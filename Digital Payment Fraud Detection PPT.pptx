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5" r:id="rId1"/>
  </p:sldMasterIdLst>
  <p:sldIdLst>
    <p:sldId id="256" r:id="rId2"/>
    <p:sldId id="258" r:id="rId3"/>
    <p:sldId id="259" r:id="rId4"/>
    <p:sldId id="260" r:id="rId5"/>
    <p:sldId id="261" r:id="rId6"/>
    <p:sldId id="271" r:id="rId7"/>
    <p:sldId id="263" r:id="rId8"/>
    <p:sldId id="264" r:id="rId9"/>
    <p:sldId id="265" r:id="rId10"/>
    <p:sldId id="275" r:id="rId11"/>
    <p:sldId id="268" r:id="rId12"/>
    <p:sldId id="272" r:id="rId13"/>
    <p:sldId id="273" r:id="rId14"/>
    <p:sldId id="274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6" d="100"/>
          <a:sy n="106" d="100"/>
        </p:scale>
        <p:origin x="73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KET GAWDE" userId="52fd1bbf77d3ad3d" providerId="LiveId" clId="{CEFD2553-A910-4FF4-8F39-8A3D182C3CC9}"/>
    <pc:docChg chg="undo custSel modSld">
      <pc:chgData name="ANIKET GAWDE" userId="52fd1bbf77d3ad3d" providerId="LiveId" clId="{CEFD2553-A910-4FF4-8F39-8A3D182C3CC9}" dt="2026-03-22T07:55:26.439" v="3625" actId="313"/>
      <pc:docMkLst>
        <pc:docMk/>
      </pc:docMkLst>
      <pc:sldChg chg="modTransition">
        <pc:chgData name="ANIKET GAWDE" userId="52fd1bbf77d3ad3d" providerId="LiveId" clId="{CEFD2553-A910-4FF4-8F39-8A3D182C3CC9}" dt="2026-03-08T13:33:10.678" v="3"/>
        <pc:sldMkLst>
          <pc:docMk/>
          <pc:sldMk cId="4022707468" sldId="256"/>
        </pc:sldMkLst>
      </pc:sldChg>
      <pc:sldChg chg="modTransition">
        <pc:chgData name="ANIKET GAWDE" userId="52fd1bbf77d3ad3d" providerId="LiveId" clId="{CEFD2553-A910-4FF4-8F39-8A3D182C3CC9}" dt="2026-03-08T13:35:46.210" v="17"/>
        <pc:sldMkLst>
          <pc:docMk/>
          <pc:sldMk cId="40637700" sldId="258"/>
        </pc:sldMkLst>
      </pc:sldChg>
      <pc:sldChg chg="modSp mod modTransition">
        <pc:chgData name="ANIKET GAWDE" userId="52fd1bbf77d3ad3d" providerId="LiveId" clId="{CEFD2553-A910-4FF4-8F39-8A3D182C3CC9}" dt="2026-03-08T14:00:17.643" v="40" actId="207"/>
        <pc:sldMkLst>
          <pc:docMk/>
          <pc:sldMk cId="1336342948" sldId="259"/>
        </pc:sldMkLst>
        <pc:spChg chg="mod">
          <ac:chgData name="ANIKET GAWDE" userId="52fd1bbf77d3ad3d" providerId="LiveId" clId="{CEFD2553-A910-4FF4-8F39-8A3D182C3CC9}" dt="2026-03-08T14:00:17.643" v="40" actId="207"/>
          <ac:spMkLst>
            <pc:docMk/>
            <pc:sldMk cId="1336342948" sldId="259"/>
            <ac:spMk id="3" creationId="{E0058A36-B4CD-91B9-E9CC-A9081D3C93B9}"/>
          </ac:spMkLst>
        </pc:spChg>
      </pc:sldChg>
      <pc:sldChg chg="modTransition">
        <pc:chgData name="ANIKET GAWDE" userId="52fd1bbf77d3ad3d" providerId="LiveId" clId="{CEFD2553-A910-4FF4-8F39-8A3D182C3CC9}" dt="2026-03-08T13:33:29.009" v="7"/>
        <pc:sldMkLst>
          <pc:docMk/>
          <pc:sldMk cId="999125063" sldId="260"/>
        </pc:sldMkLst>
      </pc:sldChg>
      <pc:sldChg chg="modSp mod modTransition">
        <pc:chgData name="ANIKET GAWDE" userId="52fd1bbf77d3ad3d" providerId="LiveId" clId="{CEFD2553-A910-4FF4-8F39-8A3D182C3CC9}" dt="2026-03-08T13:59:48.813" v="38" actId="113"/>
        <pc:sldMkLst>
          <pc:docMk/>
          <pc:sldMk cId="532082348" sldId="261"/>
        </pc:sldMkLst>
        <pc:spChg chg="mod">
          <ac:chgData name="ANIKET GAWDE" userId="52fd1bbf77d3ad3d" providerId="LiveId" clId="{CEFD2553-A910-4FF4-8F39-8A3D182C3CC9}" dt="2026-03-08T13:59:48.813" v="38" actId="113"/>
          <ac:spMkLst>
            <pc:docMk/>
            <pc:sldMk cId="532082348" sldId="261"/>
            <ac:spMk id="3" creationId="{ACC6820D-51A8-8D65-609B-E0BDAD687101}"/>
          </ac:spMkLst>
        </pc:spChg>
        <pc:spChg chg="mod">
          <ac:chgData name="ANIKET GAWDE" userId="52fd1bbf77d3ad3d" providerId="LiveId" clId="{CEFD2553-A910-4FF4-8F39-8A3D182C3CC9}" dt="2026-03-08T13:59:24.116" v="32" actId="207"/>
          <ac:spMkLst>
            <pc:docMk/>
            <pc:sldMk cId="532082348" sldId="261"/>
            <ac:spMk id="4" creationId="{328ED55D-3F0F-5130-065F-A26CFB89F5A4}"/>
          </ac:spMkLst>
        </pc:spChg>
      </pc:sldChg>
      <pc:sldChg chg="modSp mod modTransition">
        <pc:chgData name="ANIKET GAWDE" userId="52fd1bbf77d3ad3d" providerId="LiveId" clId="{CEFD2553-A910-4FF4-8F39-8A3D182C3CC9}" dt="2026-03-08T15:31:25.762" v="41" actId="1076"/>
        <pc:sldMkLst>
          <pc:docMk/>
          <pc:sldMk cId="1061868783" sldId="263"/>
        </pc:sldMkLst>
        <pc:spChg chg="mod">
          <ac:chgData name="ANIKET GAWDE" userId="52fd1bbf77d3ad3d" providerId="LiveId" clId="{CEFD2553-A910-4FF4-8F39-8A3D182C3CC9}" dt="2026-03-08T15:31:25.762" v="41" actId="1076"/>
          <ac:spMkLst>
            <pc:docMk/>
            <pc:sldMk cId="1061868783" sldId="263"/>
            <ac:spMk id="2" creationId="{BD04C78E-95E8-9F62-552D-D39096EED618}"/>
          </ac:spMkLst>
        </pc:spChg>
      </pc:sldChg>
      <pc:sldChg chg="modSp mod modTransition">
        <pc:chgData name="ANIKET GAWDE" userId="52fd1bbf77d3ad3d" providerId="LiveId" clId="{CEFD2553-A910-4FF4-8F39-8A3D182C3CC9}" dt="2026-03-22T06:38:23.741" v="729" actId="20577"/>
        <pc:sldMkLst>
          <pc:docMk/>
          <pc:sldMk cId="2858410316" sldId="264"/>
        </pc:sldMkLst>
        <pc:spChg chg="mod">
          <ac:chgData name="ANIKET GAWDE" userId="52fd1bbf77d3ad3d" providerId="LiveId" clId="{CEFD2553-A910-4FF4-8F39-8A3D182C3CC9}" dt="2026-03-22T06:38:23.741" v="729" actId="20577"/>
          <ac:spMkLst>
            <pc:docMk/>
            <pc:sldMk cId="2858410316" sldId="264"/>
            <ac:spMk id="4" creationId="{A84D6E45-FC2E-C0A5-5E65-7893C7569E90}"/>
          </ac:spMkLst>
        </pc:spChg>
      </pc:sldChg>
      <pc:sldChg chg="addSp modSp mod modTransition">
        <pc:chgData name="ANIKET GAWDE" userId="52fd1bbf77d3ad3d" providerId="LiveId" clId="{CEFD2553-A910-4FF4-8F39-8A3D182C3CC9}" dt="2026-03-22T06:47:43.606" v="1294" actId="14100"/>
        <pc:sldMkLst>
          <pc:docMk/>
          <pc:sldMk cId="2528857891" sldId="265"/>
        </pc:sldMkLst>
        <pc:spChg chg="mod">
          <ac:chgData name="ANIKET GAWDE" userId="52fd1bbf77d3ad3d" providerId="LiveId" clId="{CEFD2553-A910-4FF4-8F39-8A3D182C3CC9}" dt="2026-03-22T06:47:43.606" v="1294" actId="14100"/>
          <ac:spMkLst>
            <pc:docMk/>
            <pc:sldMk cId="2528857891" sldId="265"/>
            <ac:spMk id="2" creationId="{1B5F86BE-C54D-CA0C-8FD3-675E299A36AD}"/>
          </ac:spMkLst>
        </pc:spChg>
        <pc:spChg chg="add mod">
          <ac:chgData name="ANIKET GAWDE" userId="52fd1bbf77d3ad3d" providerId="LiveId" clId="{CEFD2553-A910-4FF4-8F39-8A3D182C3CC9}" dt="2026-03-22T06:40:36.061" v="762" actId="20577"/>
          <ac:spMkLst>
            <pc:docMk/>
            <pc:sldMk cId="2528857891" sldId="265"/>
            <ac:spMk id="4" creationId="{20AE904E-1551-A6E4-78C3-49181617F5B4}"/>
          </ac:spMkLst>
        </pc:spChg>
        <pc:spChg chg="add mod">
          <ac:chgData name="ANIKET GAWDE" userId="52fd1bbf77d3ad3d" providerId="LiveId" clId="{CEFD2553-A910-4FF4-8F39-8A3D182C3CC9}" dt="2026-03-22T06:40:39.087" v="764"/>
          <ac:spMkLst>
            <pc:docMk/>
            <pc:sldMk cId="2528857891" sldId="265"/>
            <ac:spMk id="6" creationId="{E6AACA40-F860-F4FB-8DA4-8D3D92D9A4A4}"/>
          </ac:spMkLst>
        </pc:spChg>
        <pc:spChg chg="add mod">
          <ac:chgData name="ANIKET GAWDE" userId="52fd1bbf77d3ad3d" providerId="LiveId" clId="{CEFD2553-A910-4FF4-8F39-8A3D182C3CC9}" dt="2026-03-22T06:47:33.481" v="1293" actId="20577"/>
          <ac:spMkLst>
            <pc:docMk/>
            <pc:sldMk cId="2528857891" sldId="265"/>
            <ac:spMk id="8" creationId="{379CF315-CABA-150C-9017-85933D632AF9}"/>
          </ac:spMkLst>
        </pc:spChg>
      </pc:sldChg>
      <pc:sldChg chg="modTransition">
        <pc:chgData name="ANIKET GAWDE" userId="52fd1bbf77d3ad3d" providerId="LiveId" clId="{CEFD2553-A910-4FF4-8F39-8A3D182C3CC9}" dt="2026-03-08T13:34:03.649" v="13"/>
        <pc:sldMkLst>
          <pc:docMk/>
          <pc:sldMk cId="1296890167" sldId="267"/>
        </pc:sldMkLst>
      </pc:sldChg>
      <pc:sldChg chg="addSp delSp modSp mod modTransition">
        <pc:chgData name="ANIKET GAWDE" userId="52fd1bbf77d3ad3d" providerId="LiveId" clId="{CEFD2553-A910-4FF4-8F39-8A3D182C3CC9}" dt="2026-03-22T07:55:26.439" v="3625" actId="313"/>
        <pc:sldMkLst>
          <pc:docMk/>
          <pc:sldMk cId="4217853201" sldId="268"/>
        </pc:sldMkLst>
        <pc:spChg chg="add del mod">
          <ac:chgData name="ANIKET GAWDE" userId="52fd1bbf77d3ad3d" providerId="LiveId" clId="{CEFD2553-A910-4FF4-8F39-8A3D182C3CC9}" dt="2026-03-22T07:02:56.573" v="1952" actId="21"/>
          <ac:spMkLst>
            <pc:docMk/>
            <pc:sldMk cId="4217853201" sldId="268"/>
            <ac:spMk id="5" creationId="{0B7EEAD3-634E-7F4D-4DB3-53F4719397CE}"/>
          </ac:spMkLst>
        </pc:spChg>
        <pc:spChg chg="del">
          <ac:chgData name="ANIKET GAWDE" userId="52fd1bbf77d3ad3d" providerId="LiveId" clId="{CEFD2553-A910-4FF4-8F39-8A3D182C3CC9}" dt="2026-03-22T07:04:04.475" v="1953"/>
          <ac:spMkLst>
            <pc:docMk/>
            <pc:sldMk cId="4217853201" sldId="268"/>
            <ac:spMk id="6" creationId="{05EAC46B-C867-84C1-9776-BB1903D26167}"/>
          </ac:spMkLst>
        </pc:spChg>
        <pc:spChg chg="add mod">
          <ac:chgData name="ANIKET GAWDE" userId="52fd1bbf77d3ad3d" providerId="LiveId" clId="{CEFD2553-A910-4FF4-8F39-8A3D182C3CC9}" dt="2026-03-22T07:09:22.452" v="2427" actId="20577"/>
          <ac:spMkLst>
            <pc:docMk/>
            <pc:sldMk cId="4217853201" sldId="268"/>
            <ac:spMk id="7" creationId="{0B7EEAD3-634E-7F4D-4DB3-53F4719397CE}"/>
          </ac:spMkLst>
        </pc:spChg>
        <pc:spChg chg="add mod">
          <ac:chgData name="ANIKET GAWDE" userId="52fd1bbf77d3ad3d" providerId="LiveId" clId="{CEFD2553-A910-4FF4-8F39-8A3D182C3CC9}" dt="2026-03-22T07:05:22.300" v="2050"/>
          <ac:spMkLst>
            <pc:docMk/>
            <pc:sldMk cId="4217853201" sldId="268"/>
            <ac:spMk id="8" creationId="{A459C4FD-46B1-4B25-0284-A90896FEAE3E}"/>
          </ac:spMkLst>
        </pc:spChg>
        <pc:graphicFrameChg chg="add mod">
          <ac:chgData name="ANIKET GAWDE" userId="52fd1bbf77d3ad3d" providerId="LiveId" clId="{CEFD2553-A910-4FF4-8F39-8A3D182C3CC9}" dt="2026-03-22T07:55:26.439" v="3625" actId="313"/>
          <ac:graphicFrameMkLst>
            <pc:docMk/>
            <pc:sldMk cId="4217853201" sldId="268"/>
            <ac:graphicFrameMk id="3" creationId="{2AB08A88-E631-45D3-B93B-92C082E1E46A}"/>
          </ac:graphicFrameMkLst>
        </pc:graphicFrameChg>
        <pc:graphicFrameChg chg="del">
          <ac:chgData name="ANIKET GAWDE" userId="52fd1bbf77d3ad3d" providerId="LiveId" clId="{CEFD2553-A910-4FF4-8F39-8A3D182C3CC9}" dt="2026-03-22T07:02:10.027" v="1944" actId="478"/>
          <ac:graphicFrameMkLst>
            <pc:docMk/>
            <pc:sldMk cId="4217853201" sldId="268"/>
            <ac:graphicFrameMk id="9" creationId="{2AB08A88-E631-45D3-B93B-92C082E1E46A}"/>
          </ac:graphicFrameMkLst>
        </pc:graphicFrameChg>
        <pc:picChg chg="add del">
          <ac:chgData name="ANIKET GAWDE" userId="52fd1bbf77d3ad3d" providerId="LiveId" clId="{CEFD2553-A910-4FF4-8F39-8A3D182C3CC9}" dt="2026-03-22T07:06:20.886" v="2151" actId="21"/>
          <ac:picMkLst>
            <pc:docMk/>
            <pc:sldMk cId="4217853201" sldId="268"/>
            <ac:picMk id="11" creationId="{F47EEB79-BF92-ED9F-23E0-A10C7D8D4253}"/>
          </ac:picMkLst>
        </pc:picChg>
        <pc:picChg chg="add">
          <ac:chgData name="ANIKET GAWDE" userId="52fd1bbf77d3ad3d" providerId="LiveId" clId="{CEFD2553-A910-4FF4-8F39-8A3D182C3CC9}" dt="2026-03-22T07:08:22.235" v="2315" actId="22"/>
          <ac:picMkLst>
            <pc:docMk/>
            <pc:sldMk cId="4217853201" sldId="268"/>
            <ac:picMk id="13" creationId="{14856E1A-4401-88C4-C612-4AD2D7964EBE}"/>
          </ac:picMkLst>
        </pc:picChg>
      </pc:sldChg>
      <pc:sldChg chg="modTransition">
        <pc:chgData name="ANIKET GAWDE" userId="52fd1bbf77d3ad3d" providerId="LiveId" clId="{CEFD2553-A910-4FF4-8F39-8A3D182C3CC9}" dt="2026-03-08T13:36:48.326" v="28"/>
        <pc:sldMkLst>
          <pc:docMk/>
          <pc:sldMk cId="3354794120" sldId="269"/>
        </pc:sldMkLst>
      </pc:sldChg>
      <pc:sldChg chg="modSp mod modTransition">
        <pc:chgData name="ANIKET GAWDE" userId="52fd1bbf77d3ad3d" providerId="LiveId" clId="{CEFD2553-A910-4FF4-8F39-8A3D182C3CC9}" dt="2026-03-08T17:51:00.257" v="212" actId="14100"/>
        <pc:sldMkLst>
          <pc:docMk/>
          <pc:sldMk cId="2955355026" sldId="270"/>
        </pc:sldMkLst>
        <pc:spChg chg="mod">
          <ac:chgData name="ANIKET GAWDE" userId="52fd1bbf77d3ad3d" providerId="LiveId" clId="{CEFD2553-A910-4FF4-8F39-8A3D182C3CC9}" dt="2026-03-08T17:51:00.257" v="212" actId="14100"/>
          <ac:spMkLst>
            <pc:docMk/>
            <pc:sldMk cId="2955355026" sldId="270"/>
            <ac:spMk id="3" creationId="{CF799429-338B-A212-ADC7-D65E92EAC44B}"/>
          </ac:spMkLst>
        </pc:spChg>
      </pc:sldChg>
      <pc:sldChg chg="modTransition">
        <pc:chgData name="ANIKET GAWDE" userId="52fd1bbf77d3ad3d" providerId="LiveId" clId="{CEFD2553-A910-4FF4-8F39-8A3D182C3CC9}" dt="2026-03-08T13:36:15.552" v="22"/>
        <pc:sldMkLst>
          <pc:docMk/>
          <pc:sldMk cId="49379493" sldId="271"/>
        </pc:sldMkLst>
      </pc:sldChg>
      <pc:sldChg chg="addSp delSp modSp mod">
        <pc:chgData name="ANIKET GAWDE" userId="52fd1bbf77d3ad3d" providerId="LiveId" clId="{CEFD2553-A910-4FF4-8F39-8A3D182C3CC9}" dt="2026-03-22T07:21:57.923" v="2853" actId="21"/>
        <pc:sldMkLst>
          <pc:docMk/>
          <pc:sldMk cId="1993847945" sldId="272"/>
        </pc:sldMkLst>
        <pc:spChg chg="mod">
          <ac:chgData name="ANIKET GAWDE" userId="52fd1bbf77d3ad3d" providerId="LiveId" clId="{CEFD2553-A910-4FF4-8F39-8A3D182C3CC9}" dt="2026-03-22T07:17:21.188" v="2842" actId="14100"/>
          <ac:spMkLst>
            <pc:docMk/>
            <pc:sldMk cId="1993847945" sldId="272"/>
            <ac:spMk id="2" creationId="{6FB72DE5-30C8-E73F-0C13-98B793D25FC5}"/>
          </ac:spMkLst>
        </pc:spChg>
        <pc:spChg chg="mod">
          <ac:chgData name="ANIKET GAWDE" userId="52fd1bbf77d3ad3d" providerId="LiveId" clId="{CEFD2553-A910-4FF4-8F39-8A3D182C3CC9}" dt="2026-03-22T07:17:24.768" v="2844" actId="27636"/>
          <ac:spMkLst>
            <pc:docMk/>
            <pc:sldMk cId="1993847945" sldId="272"/>
            <ac:spMk id="6" creationId="{D5F55CFE-FECA-BD38-94F8-1D259614053E}"/>
          </ac:spMkLst>
        </pc:spChg>
        <pc:graphicFrameChg chg="add del modGraphic">
          <ac:chgData name="ANIKET GAWDE" userId="52fd1bbf77d3ad3d" providerId="LiveId" clId="{CEFD2553-A910-4FF4-8F39-8A3D182C3CC9}" dt="2026-03-22T07:21:57.923" v="2853" actId="21"/>
          <ac:graphicFrameMkLst>
            <pc:docMk/>
            <pc:sldMk cId="1993847945" sldId="272"/>
            <ac:graphicFrameMk id="4" creationId="{25A11D1B-167D-A1A7-D9D3-053F67A95BC7}"/>
          </ac:graphicFrameMkLst>
        </pc:graphicFrameChg>
      </pc:sldChg>
      <pc:sldChg chg="addSp delSp modSp mod">
        <pc:chgData name="ANIKET GAWDE" userId="52fd1bbf77d3ad3d" providerId="LiveId" clId="{CEFD2553-A910-4FF4-8F39-8A3D182C3CC9}" dt="2026-03-22T07:23:28.657" v="2993" actId="14100"/>
        <pc:sldMkLst>
          <pc:docMk/>
          <pc:sldMk cId="2285150066" sldId="273"/>
        </pc:sldMkLst>
        <pc:spChg chg="add del mod">
          <ac:chgData name="ANIKET GAWDE" userId="52fd1bbf77d3ad3d" providerId="LiveId" clId="{CEFD2553-A910-4FF4-8F39-8A3D182C3CC9}" dt="2026-03-22T07:23:28.657" v="2993" actId="14100"/>
          <ac:spMkLst>
            <pc:docMk/>
            <pc:sldMk cId="2285150066" sldId="273"/>
            <ac:spMk id="3" creationId="{32318505-95F5-F9F4-AFD7-D2BF9E5BB0FF}"/>
          </ac:spMkLst>
        </pc:spChg>
        <pc:spChg chg="add mod">
          <ac:chgData name="ANIKET GAWDE" userId="52fd1bbf77d3ad3d" providerId="LiveId" clId="{CEFD2553-A910-4FF4-8F39-8A3D182C3CC9}" dt="2026-03-22T07:21:45.068" v="2851"/>
          <ac:spMkLst>
            <pc:docMk/>
            <pc:sldMk cId="2285150066" sldId="273"/>
            <ac:spMk id="5" creationId="{67E17E33-A94F-6BB3-EF9A-6CBE366D5416}"/>
          </ac:spMkLst>
        </pc:spChg>
        <pc:spChg chg="del">
          <ac:chgData name="ANIKET GAWDE" userId="52fd1bbf77d3ad3d" providerId="LiveId" clId="{CEFD2553-A910-4FF4-8F39-8A3D182C3CC9}" dt="2026-03-22T07:21:42.072" v="2849"/>
          <ac:spMkLst>
            <pc:docMk/>
            <pc:sldMk cId="2285150066" sldId="273"/>
            <ac:spMk id="6" creationId="{0B1721D8-BE5D-DAF7-6AAE-E37E8F865521}"/>
          </ac:spMkLst>
        </pc:spChg>
        <pc:spChg chg="del">
          <ac:chgData name="ANIKET GAWDE" userId="52fd1bbf77d3ad3d" providerId="LiveId" clId="{CEFD2553-A910-4FF4-8F39-8A3D182C3CC9}" dt="2026-03-22T07:20:01.450" v="2848" actId="21"/>
          <ac:spMkLst>
            <pc:docMk/>
            <pc:sldMk cId="2285150066" sldId="273"/>
            <ac:spMk id="7" creationId="{32318505-95F5-F9F4-AFD7-D2BF9E5BB0FF}"/>
          </ac:spMkLst>
        </pc:spChg>
        <pc:graphicFrameChg chg="mod">
          <ac:chgData name="ANIKET GAWDE" userId="52fd1bbf77d3ad3d" providerId="LiveId" clId="{CEFD2553-A910-4FF4-8F39-8A3D182C3CC9}" dt="2026-03-22T07:19:52.153" v="2847" actId="14100"/>
          <ac:graphicFrameMkLst>
            <pc:docMk/>
            <pc:sldMk cId="2285150066" sldId="273"/>
            <ac:graphicFrameMk id="4" creationId="{C071EDB1-A2AD-4A03-9E20-3561CFB16BB1}"/>
          </ac:graphicFrameMkLst>
        </pc:graphicFrameChg>
        <pc:graphicFrameChg chg="add del mod">
          <ac:chgData name="ANIKET GAWDE" userId="52fd1bbf77d3ad3d" providerId="LiveId" clId="{CEFD2553-A910-4FF4-8F39-8A3D182C3CC9}" dt="2026-03-22T07:22:05.129" v="2855" actId="21"/>
          <ac:graphicFrameMkLst>
            <pc:docMk/>
            <pc:sldMk cId="2285150066" sldId="273"/>
            <ac:graphicFrameMk id="8" creationId="{25A11D1B-167D-A1A7-D9D3-053F67A95BC7}"/>
          </ac:graphicFrameMkLst>
        </pc:graphicFrameChg>
      </pc:sldChg>
      <pc:sldChg chg="addSp delSp modSp mod">
        <pc:chgData name="ANIKET GAWDE" userId="52fd1bbf77d3ad3d" providerId="LiveId" clId="{CEFD2553-A910-4FF4-8F39-8A3D182C3CC9}" dt="2026-03-22T07:54:59.370" v="3623" actId="27636"/>
        <pc:sldMkLst>
          <pc:docMk/>
          <pc:sldMk cId="1564142298" sldId="274"/>
        </pc:sldMkLst>
        <pc:spChg chg="mod">
          <ac:chgData name="ANIKET GAWDE" userId="52fd1bbf77d3ad3d" providerId="LiveId" clId="{CEFD2553-A910-4FF4-8F39-8A3D182C3CC9}" dt="2026-03-22T07:54:55.357" v="3621" actId="14100"/>
          <ac:spMkLst>
            <pc:docMk/>
            <pc:sldMk cId="1564142298" sldId="274"/>
            <ac:spMk id="2" creationId="{286CA289-48C4-EA38-9345-30E9F6D89BA6}"/>
          </ac:spMkLst>
        </pc:spChg>
        <pc:spChg chg="mod">
          <ac:chgData name="ANIKET GAWDE" userId="52fd1bbf77d3ad3d" providerId="LiveId" clId="{CEFD2553-A910-4FF4-8F39-8A3D182C3CC9}" dt="2026-03-22T07:54:59.370" v="3623" actId="27636"/>
          <ac:spMkLst>
            <pc:docMk/>
            <pc:sldMk cId="1564142298" sldId="274"/>
            <ac:spMk id="6" creationId="{151547E4-EFC2-9C6E-518C-64C904EBE302}"/>
          </ac:spMkLst>
        </pc:spChg>
        <pc:spChg chg="del">
          <ac:chgData name="ANIKET GAWDE" userId="52fd1bbf77d3ad3d" providerId="LiveId" clId="{CEFD2553-A910-4FF4-8F39-8A3D182C3CC9}" dt="2026-03-22T07:42:46.769" v="3061" actId="21"/>
          <ac:spMkLst>
            <pc:docMk/>
            <pc:sldMk cId="1564142298" sldId="274"/>
            <ac:spMk id="7" creationId="{E159BEB3-5A04-BD27-8744-BB945F71E99F}"/>
          </ac:spMkLst>
        </pc:spChg>
        <pc:graphicFrameChg chg="del">
          <ac:chgData name="ANIKET GAWDE" userId="52fd1bbf77d3ad3d" providerId="LiveId" clId="{CEFD2553-A910-4FF4-8F39-8A3D182C3CC9}" dt="2026-03-22T07:42:42.128" v="3058" actId="478"/>
          <ac:graphicFrameMkLst>
            <pc:docMk/>
            <pc:sldMk cId="1564142298" sldId="274"/>
            <ac:graphicFrameMk id="3" creationId="{8D7EFC8D-8536-42CE-AF3F-C46AE12C4DEA}"/>
          </ac:graphicFrameMkLst>
        </pc:graphicFrameChg>
        <pc:graphicFrameChg chg="add mod">
          <ac:chgData name="ANIKET GAWDE" userId="52fd1bbf77d3ad3d" providerId="LiveId" clId="{CEFD2553-A910-4FF4-8F39-8A3D182C3CC9}" dt="2026-03-22T07:42:58.403" v="3065" actId="14100"/>
          <ac:graphicFrameMkLst>
            <pc:docMk/>
            <pc:sldMk cId="1564142298" sldId="274"/>
            <ac:graphicFrameMk id="4" creationId="{09DBC9E9-B6C7-4865-B1BF-342905B68153}"/>
          </ac:graphicFrameMkLst>
        </pc:graphicFrameChg>
      </pc:sldChg>
      <pc:sldChg chg="addSp modSp mod">
        <pc:chgData name="ANIKET GAWDE" userId="52fd1bbf77d3ad3d" providerId="LiveId" clId="{CEFD2553-A910-4FF4-8F39-8A3D182C3CC9}" dt="2026-03-22T06:59:56.897" v="1941" actId="14100"/>
        <pc:sldMkLst>
          <pc:docMk/>
          <pc:sldMk cId="713024195" sldId="275"/>
        </pc:sldMkLst>
        <pc:spChg chg="mod">
          <ac:chgData name="ANIKET GAWDE" userId="52fd1bbf77d3ad3d" providerId="LiveId" clId="{CEFD2553-A910-4FF4-8F39-8A3D182C3CC9}" dt="2026-03-22T06:59:56.897" v="1941" actId="14100"/>
          <ac:spMkLst>
            <pc:docMk/>
            <pc:sldMk cId="713024195" sldId="275"/>
            <ac:spMk id="2" creationId="{41658B4B-98FD-05E0-5D29-DB8551E9878D}"/>
          </ac:spMkLst>
        </pc:spChg>
        <pc:spChg chg="add mod">
          <ac:chgData name="ANIKET GAWDE" userId="52fd1bbf77d3ad3d" providerId="LiveId" clId="{CEFD2553-A910-4FF4-8F39-8A3D182C3CC9}" dt="2026-03-22T06:59:38.611" v="1939" actId="14100"/>
          <ac:spMkLst>
            <pc:docMk/>
            <pc:sldMk cId="713024195" sldId="275"/>
            <ac:spMk id="5" creationId="{AF7EA556-2FC7-E792-F421-FA4DA659E07C}"/>
          </ac:spMkLst>
        </pc:spChg>
        <pc:spChg chg="add mod">
          <ac:chgData name="ANIKET GAWDE" userId="52fd1bbf77d3ad3d" providerId="LiveId" clId="{CEFD2553-A910-4FF4-8F39-8A3D182C3CC9}" dt="2026-03-22T06:50:11.007" v="1316"/>
          <ac:spMkLst>
            <pc:docMk/>
            <pc:sldMk cId="713024195" sldId="275"/>
            <ac:spMk id="6" creationId="{C259B6E1-EE88-1E0E-8559-EF6B3B30FCB2}"/>
          </ac:spMkLst>
        </pc:spChg>
        <pc:spChg chg="add mod">
          <ac:chgData name="ANIKET GAWDE" userId="52fd1bbf77d3ad3d" providerId="LiveId" clId="{CEFD2553-A910-4FF4-8F39-8A3D182C3CC9}" dt="2026-03-22T06:50:40.798" v="1334" actId="20577"/>
          <ac:spMkLst>
            <pc:docMk/>
            <pc:sldMk cId="713024195" sldId="275"/>
            <ac:spMk id="7" creationId="{880810BD-7710-1FD4-AC66-6C1B463F1ACF}"/>
          </ac:spMkLst>
        </pc:spChg>
        <pc:spChg chg="add mod">
          <ac:chgData name="ANIKET GAWDE" userId="52fd1bbf77d3ad3d" providerId="LiveId" clId="{CEFD2553-A910-4FF4-8F39-8A3D182C3CC9}" dt="2026-03-22T06:59:51.622" v="1940" actId="14100"/>
          <ac:spMkLst>
            <pc:docMk/>
            <pc:sldMk cId="713024195" sldId="275"/>
            <ac:spMk id="8" creationId="{9AEA6BBA-28E3-2A90-15F8-C557CB520362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niket%20Gawde\OneDrive\Desktop\New%20Excel%20Project%2019.03.2026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niket%20Gawde\OneDrive\Desktop\New%20Excel%20Project%2019.03.2026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niket%20Gawde\OneDrive\Desktop\New%20Excel%20Project%2019.03.2026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niket%20Gawde\OneDrive\Desktop\New%20Excel%20Project%2019.03.2026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2fd1bbf77d3ad3d/Desktop/New%20Excel%20Project%2019.03.2026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niket%20Gawde\OneDrive\Desktop\New%20Excel%20Project%2019.03.2026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niket%20Gawde\OneDrive\Desktop\New%20Excel%20Project%2019.03.2026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2fd1bbf77d3ad3d/Desktop/New%20Excel%20Project%2019.03.2026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[New Excel Project 19.03.2026.xlsx]Sheet2!Transaction Typer Summary</c:name>
    <c:fmtId val="4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Transaction Type Summary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6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7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8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</c:pivotFmts>
    <c:plotArea>
      <c:layout>
        <c:manualLayout>
          <c:layoutTarget val="inner"/>
          <c:xMode val="edge"/>
          <c:yMode val="edge"/>
          <c:x val="0.2241645410520868"/>
          <c:y val="0.21084560082163642"/>
          <c:w val="0.62149273594321841"/>
          <c:h val="0.71882292974247786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Sheet2!$B$3:$B$4</c:f>
              <c:strCache>
                <c:ptCount val="1"/>
                <c:pt idx="0">
                  <c:v>0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76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hade val="76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shade val="76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spPr>
              <a:solidFill>
                <a:sysClr val="window" lastClr="FFFFFF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Sheet2!$A$5:$A$8</c:f>
              <c:strCache>
                <c:ptCount val="3"/>
                <c:pt idx="0">
                  <c:v>Payment</c:v>
                </c:pt>
                <c:pt idx="1">
                  <c:v>Transfer</c:v>
                </c:pt>
                <c:pt idx="2">
                  <c:v>Withdrawal</c:v>
                </c:pt>
              </c:strCache>
            </c:strRef>
          </c:cat>
          <c:val>
            <c:numRef>
              <c:f>Sheet2!$B$5:$B$8</c:f>
              <c:numCache>
                <c:formatCode>General</c:formatCode>
                <c:ptCount val="3"/>
                <c:pt idx="0">
                  <c:v>2352</c:v>
                </c:pt>
                <c:pt idx="1">
                  <c:v>2330</c:v>
                </c:pt>
                <c:pt idx="2">
                  <c:v>2329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E9-4914-860D-B7CA3842CE87}"/>
            </c:ext>
          </c:extLst>
        </c:ser>
        <c:ser>
          <c:idx val="1"/>
          <c:order val="1"/>
          <c:tx>
            <c:strRef>
              <c:f>Sheet2!$C$3:$C$4</c:f>
              <c:strCache>
                <c:ptCount val="1"/>
                <c:pt idx="0">
                  <c:v>1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77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tint val="77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tint val="77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spPr>
              <a:solidFill>
                <a:sysClr val="window" lastClr="FFFFFF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Sheet2!$A$5:$A$8</c:f>
              <c:strCache>
                <c:ptCount val="3"/>
                <c:pt idx="0">
                  <c:v>Payment</c:v>
                </c:pt>
                <c:pt idx="1">
                  <c:v>Transfer</c:v>
                </c:pt>
                <c:pt idx="2">
                  <c:v>Withdrawal</c:v>
                </c:pt>
              </c:strCache>
            </c:strRef>
          </c:cat>
          <c:val>
            <c:numRef>
              <c:f>Sheet2!$C$5:$C$8</c:f>
              <c:numCache>
                <c:formatCode>General</c:formatCode>
                <c:ptCount val="3"/>
                <c:pt idx="0">
                  <c:v>159</c:v>
                </c:pt>
                <c:pt idx="1">
                  <c:v>160</c:v>
                </c:pt>
                <c:pt idx="2">
                  <c:v>170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E9-4914-860D-B7CA3842CE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78296304"/>
        <c:axId val="678295824"/>
      </c:barChart>
      <c:catAx>
        <c:axId val="6782963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8295824"/>
        <c:crosses val="autoZero"/>
        <c:auto val="1"/>
        <c:lblAlgn val="ctr"/>
        <c:lblOffset val="100"/>
        <c:noMultiLvlLbl val="0"/>
      </c:catAx>
      <c:valAx>
        <c:axId val="678295824"/>
        <c:scaling>
          <c:orientation val="minMax"/>
        </c:scaling>
        <c:delete val="0"/>
        <c:axPos val="b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8296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"/>
          <c:y val="0.52324576819201951"/>
          <c:w val="0.2"/>
          <c:h val="0.1865884590513142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Device Type Analysis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Sheet2!$F$25</c:f>
              <c:strCache>
                <c:ptCount val="1"/>
                <c:pt idx="0">
                  <c:v>Android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spPr>
              <a:solidFill>
                <a:sysClr val="window" lastClr="FFFFFF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val>
            <c:numRef>
              <c:f>Sheet2!$G$25</c:f>
              <c:numCache>
                <c:formatCode>General</c:formatCode>
                <c:ptCount val="1"/>
                <c:pt idx="0">
                  <c:v>48652.590000000004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5A-41EE-912A-468AC3606E64}"/>
            </c:ext>
          </c:extLst>
        </c:ser>
        <c:ser>
          <c:idx val="1"/>
          <c:order val="1"/>
          <c:tx>
            <c:strRef>
              <c:f>Sheet2!$F$26</c:f>
              <c:strCache>
                <c:ptCount val="1"/>
                <c:pt idx="0">
                  <c:v>iOS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spPr>
              <a:solidFill>
                <a:sysClr val="window" lastClr="FFFFFF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val>
            <c:numRef>
              <c:f>Sheet2!$G$26</c:f>
              <c:numCache>
                <c:formatCode>General</c:formatCode>
                <c:ptCount val="1"/>
                <c:pt idx="0">
                  <c:v>48026.42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5A-41EE-912A-468AC3606E64}"/>
            </c:ext>
          </c:extLst>
        </c:ser>
        <c:ser>
          <c:idx val="2"/>
          <c:order val="2"/>
          <c:tx>
            <c:strRef>
              <c:f>Sheet2!$F$27</c:f>
              <c:strCache>
                <c:ptCount val="1"/>
                <c:pt idx="0">
                  <c:v>Web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spPr>
              <a:solidFill>
                <a:sysClr val="window" lastClr="FFFFFF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val>
            <c:numRef>
              <c:f>Sheet2!$G$27</c:f>
              <c:numCache>
                <c:formatCode>General</c:formatCode>
                <c:ptCount val="1"/>
                <c:pt idx="0">
                  <c:v>48525.18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E5A-41EE-912A-468AC3606E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873765392"/>
        <c:axId val="873768272"/>
      </c:barChart>
      <c:catAx>
        <c:axId val="8737653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3768272"/>
        <c:crosses val="autoZero"/>
        <c:auto val="1"/>
        <c:lblAlgn val="ctr"/>
        <c:lblOffset val="100"/>
        <c:noMultiLvlLbl val="0"/>
      </c:catAx>
      <c:valAx>
        <c:axId val="873768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37653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[New Excel Project 19.03.2026.xlsx]Sheet2!Device Type Fraud Analysis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 Device Type Fraud Analysis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6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8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stacked"/>
        <c:varyColors val="0"/>
        <c:ser>
          <c:idx val="0"/>
          <c:order val="0"/>
          <c:tx>
            <c:strRef>
              <c:f>Sheet2!$B$11:$B$12</c:f>
              <c:strCache>
                <c:ptCount val="1"/>
                <c:pt idx="0">
                  <c:v>0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Sheet2!$A$13:$A$16</c:f>
              <c:strCache>
                <c:ptCount val="3"/>
                <c:pt idx="0">
                  <c:v>Android</c:v>
                </c:pt>
                <c:pt idx="1">
                  <c:v>iOS</c:v>
                </c:pt>
                <c:pt idx="2">
                  <c:v>Web</c:v>
                </c:pt>
              </c:strCache>
            </c:strRef>
          </c:cat>
          <c:val>
            <c:numRef>
              <c:f>Sheet2!$B$13:$B$16</c:f>
              <c:numCache>
                <c:formatCode>General</c:formatCode>
                <c:ptCount val="3"/>
                <c:pt idx="0">
                  <c:v>2306</c:v>
                </c:pt>
                <c:pt idx="1">
                  <c:v>2320</c:v>
                </c:pt>
                <c:pt idx="2">
                  <c:v>2385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C6-4DFB-B333-EB646866B067}"/>
            </c:ext>
          </c:extLst>
        </c:ser>
        <c:ser>
          <c:idx val="1"/>
          <c:order val="1"/>
          <c:tx>
            <c:strRef>
              <c:f>Sheet2!$C$11:$C$12</c:f>
              <c:strCache>
                <c:ptCount val="1"/>
                <c:pt idx="0">
                  <c:v>1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dLbls>
            <c:spPr>
              <a:solidFill>
                <a:sysClr val="window" lastClr="FFFFFF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Sheet2!$A$13:$A$16</c:f>
              <c:strCache>
                <c:ptCount val="3"/>
                <c:pt idx="0">
                  <c:v>Android</c:v>
                </c:pt>
                <c:pt idx="1">
                  <c:v>iOS</c:v>
                </c:pt>
                <c:pt idx="2">
                  <c:v>Web</c:v>
                </c:pt>
              </c:strCache>
            </c:strRef>
          </c:cat>
          <c:val>
            <c:numRef>
              <c:f>Sheet2!$C$13:$C$16</c:f>
              <c:numCache>
                <c:formatCode>General</c:formatCode>
                <c:ptCount val="3"/>
                <c:pt idx="0">
                  <c:v>172</c:v>
                </c:pt>
                <c:pt idx="1">
                  <c:v>165</c:v>
                </c:pt>
                <c:pt idx="2">
                  <c:v>152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C6-4DFB-B333-EB646866B0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220082400"/>
        <c:axId val="220076160"/>
        <c:axId val="0"/>
      </c:bar3DChart>
      <c:catAx>
        <c:axId val="2200824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0076160"/>
        <c:crosses val="autoZero"/>
        <c:auto val="1"/>
        <c:lblAlgn val="ctr"/>
        <c:lblOffset val="100"/>
        <c:noMultiLvlLbl val="0"/>
      </c:catAx>
      <c:valAx>
        <c:axId val="220076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0082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[New Excel Project 19.03.2026.xlsx]Sheet2!Transaction type impact 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Transaction type impact 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ivotFmts>
      <c:pivotFmt>
        <c:idx val="0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layout>
            <c:manualLayout>
              <c:x val="-9.9819553805774272E-2"/>
              <c:y val="-0.12033573928258967"/>
            </c:manualLayout>
          </c:layout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layout>
            <c:manualLayout>
              <c:x val="-7.879397207464145E-2"/>
              <c:y val="-9.8944984818074205E-2"/>
            </c:manualLayout>
          </c:layout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layout>
            <c:manualLayout>
              <c:x val="-7.6369730113151041E-2"/>
              <c:y val="-0.10267981208231323"/>
            </c:manualLayout>
          </c:layout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layout>
            <c:manualLayout>
              <c:x val="-7.6369730113151041E-2"/>
              <c:y val="-0.10267981208231323"/>
            </c:manualLayout>
          </c:layout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layout>
            <c:manualLayout>
              <c:x val="-9.9819553805774272E-2"/>
              <c:y val="-0.12033573928258967"/>
            </c:manualLayout>
          </c:layout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layout>
            <c:manualLayout>
              <c:x val="-7.879397207464145E-2"/>
              <c:y val="-9.8944984818074205E-2"/>
            </c:manualLayout>
          </c:layout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layout>
            <c:manualLayout>
              <c:x val="-7.8937509860447772E-2"/>
              <c:y val="-0.1008403361344537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layout>
            <c:manualLayout>
              <c:x val="-8.1366168026810945E-2"/>
              <c:y val="-7.84313725490196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layout>
            <c:manualLayout>
              <c:x val="-8.6223484359537028E-2"/>
              <c:y val="-0.1195144724556489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ect">
                  <a:avLst/>
                </a:prstGeom>
              </c15:spPr>
            </c:ext>
          </c:extLst>
        </c:dLbl>
      </c:pivotFmt>
      <c:pivotFmt>
        <c:idx val="12"/>
        <c:spPr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dLbl>
          <c:idx val="0"/>
          <c:layout>
            <c:manualLayout>
              <c:x val="-7.8937509860447772E-2"/>
              <c:y val="-0.1008403361344537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dLbl>
          <c:idx val="0"/>
          <c:layout>
            <c:manualLayout>
              <c:x val="-8.1366168026810945E-2"/>
              <c:y val="-7.84313725490196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dLbl>
          <c:idx val="0"/>
          <c:layout>
            <c:manualLayout>
              <c:x val="-8.6223484359537028E-2"/>
              <c:y val="-0.1195144724556489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ect">
                  <a:avLst/>
                </a:prstGeom>
              </c15:spPr>
            </c:ext>
          </c:extLst>
        </c:dLbl>
      </c:pivotFmt>
      <c:pivotFmt>
        <c:idx val="16"/>
        <c:spPr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dLbl>
          <c:idx val="0"/>
          <c:layout>
            <c:manualLayout>
              <c:x val="-7.8937509860447772E-2"/>
              <c:y val="-0.1008403361344537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dLbl>
          <c:idx val="0"/>
          <c:layout>
            <c:manualLayout>
              <c:x val="-8.1366168026810945E-2"/>
              <c:y val="-7.84313725490196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dLbl>
          <c:idx val="0"/>
          <c:layout>
            <c:manualLayout>
              <c:x val="-8.6223484359537028E-2"/>
              <c:y val="-0.1195144724556489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ect">
                  <a:avLst/>
                </a:prstGeom>
              </c15:spPr>
            </c:ext>
          </c:extLst>
        </c:dLbl>
      </c:pivotFmt>
    </c:pivotFmts>
    <c:plotArea>
      <c:layout>
        <c:manualLayout>
          <c:layoutTarget val="inner"/>
          <c:xMode val="edge"/>
          <c:yMode val="edge"/>
          <c:x val="0.11716151426170093"/>
          <c:y val="0.23562848761551866"/>
          <c:w val="0.71309268182435093"/>
          <c:h val="0.62253100715351761"/>
        </c:manualLayout>
      </c:layout>
      <c:lineChart>
        <c:grouping val="standard"/>
        <c:varyColors val="0"/>
        <c:ser>
          <c:idx val="0"/>
          <c:order val="0"/>
          <c:tx>
            <c:strRef>
              <c:f>Sheet2!$B$26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1"/>
              </a:outerShdw>
            </a:effectLst>
          </c:spPr>
          <c:marker>
            <c:symbol val="circle"/>
            <c:size val="5"/>
            <c:spPr>
              <a:solidFill>
                <a:schemeClr val="accent1"/>
              </a:solidFill>
              <a:ln w="22225">
                <a:solidFill>
                  <a:schemeClr val="lt1"/>
                </a:solidFill>
                <a:round/>
              </a:ln>
              <a:effectLst/>
            </c:spPr>
          </c:marke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3719-4F55-A90B-24ECDE824B0B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1-3719-4F55-A90B-24ECDE824B0B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2-3719-4F55-A90B-24ECDE824B0B}"/>
              </c:ext>
            </c:extLst>
          </c:dPt>
          <c:dLbls>
            <c:dLbl>
              <c:idx val="0"/>
              <c:layout>
                <c:manualLayout>
                  <c:x val="-7.8937509860447772E-2"/>
                  <c:y val="-0.10084033613445378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719-4F55-A90B-24ECDE824B0B}"/>
                </c:ext>
              </c:extLst>
            </c:dLbl>
            <c:dLbl>
              <c:idx val="1"/>
              <c:layout>
                <c:manualLayout>
                  <c:x val="-8.1366168026810945E-2"/>
                  <c:y val="-7.843137254901960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719-4F55-A90B-24ECDE824B0B}"/>
                </c:ext>
              </c:extLst>
            </c:dLbl>
            <c:dLbl>
              <c:idx val="2"/>
              <c:layout>
                <c:manualLayout>
                  <c:x val="-8.6223484359537028E-2"/>
                  <c:y val="-0.1195144724556489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3719-4F55-A90B-24ECDE824B0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errBars>
            <c:errDir val="y"/>
            <c:errBarType val="both"/>
            <c:errValType val="stdErr"/>
            <c:noEndCap val="0"/>
            <c:spPr>
              <a:noFill/>
              <a:ln w="9525">
                <a:solidFill>
                  <a:schemeClr val="accent1">
                    <a:lumMod val="60000"/>
                    <a:lumOff val="40000"/>
                  </a:schemeClr>
                </a:solidFill>
                <a:round/>
              </a:ln>
              <a:effectLst>
                <a:glow rad="25400">
                  <a:schemeClr val="lt1"/>
                </a:glow>
              </a:effectLst>
            </c:spPr>
          </c:errBars>
          <c:cat>
            <c:strRef>
              <c:f>Sheet2!$A$27:$A$30</c:f>
              <c:strCache>
                <c:ptCount val="3"/>
                <c:pt idx="0">
                  <c:v>Payment</c:v>
                </c:pt>
                <c:pt idx="1">
                  <c:v>Transfer</c:v>
                </c:pt>
                <c:pt idx="2">
                  <c:v>Withdrawal</c:v>
                </c:pt>
              </c:strCache>
            </c:strRef>
          </c:cat>
          <c:val>
            <c:numRef>
              <c:f>Sheet2!$B$27:$B$30</c:f>
              <c:numCache>
                <c:formatCode>General</c:formatCode>
                <c:ptCount val="3"/>
                <c:pt idx="0">
                  <c:v>24111918.830000088</c:v>
                </c:pt>
                <c:pt idx="1">
                  <c:v>23763905.149999984</c:v>
                </c:pt>
                <c:pt idx="2">
                  <c:v>24757724.52999996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719-4F55-A90B-24ECDE824B0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10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marker val="1"/>
        <c:smooth val="0"/>
        <c:axId val="860683440"/>
        <c:axId val="860676720"/>
      </c:lineChart>
      <c:catAx>
        <c:axId val="860683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0676720"/>
        <c:crosses val="autoZero"/>
        <c:auto val="1"/>
        <c:lblAlgn val="ctr"/>
        <c:lblOffset val="100"/>
        <c:noMultiLvlLbl val="0"/>
      </c:catAx>
      <c:valAx>
        <c:axId val="8606767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0683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[New Excel Project 19.03.2026.xlsx]Sheet2!Top2 Fruad cases by device type &amp; Transaction Method</c:name>
    <c:fmtId val="3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Top2 Fraud cases by device type &amp; Transaction Method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percentStacked"/>
        <c:varyColors val="0"/>
        <c:ser>
          <c:idx val="0"/>
          <c:order val="0"/>
          <c:tx>
            <c:strRef>
              <c:f>Sheet2!$G$10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Sheet2!$F$11:$F$14</c:f>
              <c:strCache>
                <c:ptCount val="3"/>
                <c:pt idx="0">
                  <c:v>Card</c:v>
                </c:pt>
                <c:pt idx="1">
                  <c:v>NetBanking</c:v>
                </c:pt>
                <c:pt idx="2">
                  <c:v>UPI</c:v>
                </c:pt>
              </c:strCache>
            </c:strRef>
          </c:cat>
          <c:val>
            <c:numRef>
              <c:f>Sheet2!$G$11:$G$14</c:f>
              <c:numCache>
                <c:formatCode>General</c:formatCode>
                <c:ptCount val="3"/>
                <c:pt idx="0">
                  <c:v>135</c:v>
                </c:pt>
                <c:pt idx="1">
                  <c:v>120</c:v>
                </c:pt>
                <c:pt idx="2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81-49DA-9F2C-77E8CA74FB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220055040"/>
        <c:axId val="220052640"/>
        <c:axId val="0"/>
      </c:bar3DChart>
      <c:catAx>
        <c:axId val="220055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0052640"/>
        <c:crosses val="autoZero"/>
        <c:auto val="1"/>
        <c:lblAlgn val="ctr"/>
        <c:lblOffset val="100"/>
        <c:noMultiLvlLbl val="0"/>
      </c:catAx>
      <c:valAx>
        <c:axId val="220052640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005504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lt1">
                <a:lumMod val="95000"/>
                <a:alpha val="54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[New Excel Project 19.03.2026.xlsx]Sheet2!Top 3Location Wise Risk Category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lt1">
                    <a:lumMod val="8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dirty="0"/>
              <a:t>Top 3 Location Wise Risk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lt1">
                  <a:lumMod val="8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gradFill>
            <a:gsLst>
              <a:gs pos="100000">
                <a:schemeClr val="accent4"/>
              </a:gs>
              <a:gs pos="0">
                <a:schemeClr val="accent4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marker>
          <c:symbol val="none"/>
        </c:marker>
        <c:dLbl>
          <c:idx val="0"/>
          <c:spPr>
            <a:solidFill>
              <a:sysClr val="windowText" lastClr="000000">
                <a:lumMod val="65000"/>
                <a:lumOff val="35000"/>
              </a:sysClr>
            </a:solidFill>
            <a:ln>
              <a:solidFill>
                <a:sysClr val="window" lastClr="FFFFFF">
                  <a:lumMod val="50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gradFill>
            <a:gsLst>
              <a:gs pos="100000">
                <a:schemeClr val="accent4"/>
              </a:gs>
              <a:gs pos="0">
                <a:schemeClr val="accent4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dLbl>
          <c:idx val="0"/>
          <c:layout>
            <c:manualLayout>
              <c:x val="7.5702075702075697E-2"/>
              <c:y val="-2.6897222355010658E-2"/>
            </c:manualLayout>
          </c:layout>
          <c:spPr>
            <a:solidFill>
              <a:sysClr val="windowText" lastClr="000000">
                <a:lumMod val="65000"/>
                <a:lumOff val="35000"/>
              </a:sysClr>
            </a:solidFill>
            <a:ln>
              <a:solidFill>
                <a:sysClr val="window" lastClr="FFFFFF">
                  <a:lumMod val="50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"/>
        <c:spPr>
          <a:gradFill>
            <a:gsLst>
              <a:gs pos="100000">
                <a:schemeClr val="accent4"/>
              </a:gs>
              <a:gs pos="0">
                <a:schemeClr val="accent4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dLbl>
          <c:idx val="0"/>
          <c:layout>
            <c:manualLayout>
              <c:x val="-7.3260073260073263E-2"/>
              <c:y val="-1.5369841345720376E-2"/>
            </c:manualLayout>
          </c:layout>
          <c:spPr>
            <a:solidFill>
              <a:sysClr val="windowText" lastClr="000000">
                <a:lumMod val="65000"/>
                <a:lumOff val="35000"/>
              </a:sysClr>
            </a:solidFill>
            <a:ln>
              <a:solidFill>
                <a:sysClr val="window" lastClr="FFFFFF">
                  <a:lumMod val="50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"/>
        <c:spPr>
          <a:gradFill>
            <a:gsLst>
              <a:gs pos="100000">
                <a:schemeClr val="accent4"/>
              </a:gs>
              <a:gs pos="0">
                <a:schemeClr val="accent4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dLbl>
          <c:idx val="0"/>
          <c:layout>
            <c:manualLayout>
              <c:x val="-6.5934065934065936E-2"/>
              <c:y val="5.7636905046451345E-2"/>
            </c:manualLayout>
          </c:layout>
          <c:spPr>
            <a:solidFill>
              <a:sysClr val="windowText" lastClr="000000">
                <a:lumMod val="65000"/>
                <a:lumOff val="35000"/>
              </a:sysClr>
            </a:solidFill>
            <a:ln>
              <a:solidFill>
                <a:sysClr val="window" lastClr="FFFFFF">
                  <a:lumMod val="50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"/>
        <c:spPr>
          <a:gradFill>
            <a:gsLst>
              <a:gs pos="100000">
                <a:schemeClr val="accent4"/>
              </a:gs>
              <a:gs pos="0">
                <a:schemeClr val="accent4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marker>
          <c:symbol val="none"/>
        </c:marker>
        <c:dLbl>
          <c:idx val="0"/>
          <c:spPr>
            <a:solidFill>
              <a:sysClr val="windowText" lastClr="000000">
                <a:lumMod val="65000"/>
                <a:lumOff val="35000"/>
              </a:sysClr>
            </a:solidFill>
            <a:ln>
              <a:solidFill>
                <a:sysClr val="window" lastClr="FFFFFF">
                  <a:lumMod val="50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"/>
        <c:spPr>
          <a:gradFill>
            <a:gsLst>
              <a:gs pos="100000">
                <a:schemeClr val="accent4"/>
              </a:gs>
              <a:gs pos="0">
                <a:schemeClr val="accent4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dLbl>
          <c:idx val="0"/>
          <c:layout>
            <c:manualLayout>
              <c:x val="7.5702075702075697E-2"/>
              <c:y val="-2.6897222355010658E-2"/>
            </c:manualLayout>
          </c:layout>
          <c:spPr>
            <a:solidFill>
              <a:sysClr val="windowText" lastClr="000000">
                <a:lumMod val="65000"/>
                <a:lumOff val="35000"/>
              </a:sysClr>
            </a:solidFill>
            <a:ln>
              <a:solidFill>
                <a:sysClr val="window" lastClr="FFFFFF">
                  <a:lumMod val="50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6"/>
        <c:spPr>
          <a:gradFill>
            <a:gsLst>
              <a:gs pos="100000">
                <a:schemeClr val="accent4"/>
              </a:gs>
              <a:gs pos="0">
                <a:schemeClr val="accent4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dLbl>
          <c:idx val="0"/>
          <c:layout>
            <c:manualLayout>
              <c:x val="-7.3260073260073263E-2"/>
              <c:y val="-1.5369841345720376E-2"/>
            </c:manualLayout>
          </c:layout>
          <c:spPr>
            <a:solidFill>
              <a:sysClr val="windowText" lastClr="000000">
                <a:lumMod val="65000"/>
                <a:lumOff val="35000"/>
              </a:sysClr>
            </a:solidFill>
            <a:ln>
              <a:solidFill>
                <a:sysClr val="window" lastClr="FFFFFF">
                  <a:lumMod val="50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7"/>
        <c:spPr>
          <a:gradFill>
            <a:gsLst>
              <a:gs pos="100000">
                <a:schemeClr val="accent4"/>
              </a:gs>
              <a:gs pos="0">
                <a:schemeClr val="accent4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dLbl>
          <c:idx val="0"/>
          <c:layout>
            <c:manualLayout>
              <c:x val="-6.5934065934065936E-2"/>
              <c:y val="5.7636905046451345E-2"/>
            </c:manualLayout>
          </c:layout>
          <c:spPr>
            <a:solidFill>
              <a:sysClr val="windowText" lastClr="000000">
                <a:lumMod val="65000"/>
                <a:lumOff val="35000"/>
              </a:sysClr>
            </a:solidFill>
            <a:ln>
              <a:solidFill>
                <a:sysClr val="window" lastClr="FFFFFF">
                  <a:lumMod val="50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8"/>
        <c:spPr>
          <a:gradFill>
            <a:gsLst>
              <a:gs pos="100000">
                <a:schemeClr val="accent4"/>
              </a:gs>
              <a:gs pos="0">
                <a:schemeClr val="accent4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marker>
          <c:symbol val="none"/>
        </c:marker>
        <c:dLbl>
          <c:idx val="0"/>
          <c:spPr>
            <a:solidFill>
              <a:sysClr val="windowText" lastClr="000000">
                <a:lumMod val="65000"/>
                <a:lumOff val="35000"/>
              </a:sysClr>
            </a:solidFill>
            <a:ln>
              <a:solidFill>
                <a:sysClr val="window" lastClr="FFFFFF">
                  <a:lumMod val="50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"/>
        <c:spPr>
          <a:gradFill>
            <a:gsLst>
              <a:gs pos="100000">
                <a:schemeClr val="accent4"/>
              </a:gs>
              <a:gs pos="0">
                <a:schemeClr val="accent4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dLbl>
          <c:idx val="0"/>
          <c:layout>
            <c:manualLayout>
              <c:x val="7.5702075702075697E-2"/>
              <c:y val="-2.6897222355010658E-2"/>
            </c:manualLayout>
          </c:layout>
          <c:spPr>
            <a:solidFill>
              <a:sysClr val="windowText" lastClr="000000">
                <a:lumMod val="65000"/>
                <a:lumOff val="35000"/>
              </a:sysClr>
            </a:solidFill>
            <a:ln>
              <a:solidFill>
                <a:sysClr val="window" lastClr="FFFFFF">
                  <a:lumMod val="50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"/>
        <c:spPr>
          <a:gradFill>
            <a:gsLst>
              <a:gs pos="100000">
                <a:schemeClr val="accent4"/>
              </a:gs>
              <a:gs pos="0">
                <a:schemeClr val="accent4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dLbl>
          <c:idx val="0"/>
          <c:layout>
            <c:manualLayout>
              <c:x val="-7.3260073260073263E-2"/>
              <c:y val="-1.5369841345720376E-2"/>
            </c:manualLayout>
          </c:layout>
          <c:spPr>
            <a:solidFill>
              <a:sysClr val="windowText" lastClr="000000">
                <a:lumMod val="65000"/>
                <a:lumOff val="35000"/>
              </a:sysClr>
            </a:solidFill>
            <a:ln>
              <a:solidFill>
                <a:sysClr val="window" lastClr="FFFFFF">
                  <a:lumMod val="50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"/>
        <c:spPr>
          <a:gradFill>
            <a:gsLst>
              <a:gs pos="100000">
                <a:schemeClr val="accent4"/>
              </a:gs>
              <a:gs pos="0">
                <a:schemeClr val="accent4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dLbl>
          <c:idx val="0"/>
          <c:layout>
            <c:manualLayout>
              <c:x val="-6.5934065934065936E-2"/>
              <c:y val="5.7636905046451345E-2"/>
            </c:manualLayout>
          </c:layout>
          <c:spPr>
            <a:solidFill>
              <a:sysClr val="windowText" lastClr="000000">
                <a:lumMod val="65000"/>
                <a:lumOff val="35000"/>
              </a:sysClr>
            </a:solidFill>
            <a:ln>
              <a:solidFill>
                <a:sysClr val="window" lastClr="FFFFFF">
                  <a:lumMod val="50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2"/>
        <c:spPr>
          <a:gradFill>
            <a:gsLst>
              <a:gs pos="100000">
                <a:schemeClr val="accent4"/>
              </a:gs>
              <a:gs pos="0">
                <a:schemeClr val="accent4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marker>
          <c:symbol val="none"/>
        </c:marker>
        <c:dLbl>
          <c:idx val="0"/>
          <c:spPr>
            <a:solidFill>
              <a:sysClr val="windowText" lastClr="000000">
                <a:lumMod val="65000"/>
                <a:lumOff val="35000"/>
              </a:sysClr>
            </a:solidFill>
            <a:ln>
              <a:solidFill>
                <a:sysClr val="window" lastClr="FFFFFF">
                  <a:lumMod val="50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"/>
        <c:spPr>
          <a:gradFill>
            <a:gsLst>
              <a:gs pos="100000">
                <a:schemeClr val="accent4"/>
              </a:gs>
              <a:gs pos="0">
                <a:schemeClr val="accent4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dLbl>
          <c:idx val="0"/>
          <c:layout>
            <c:manualLayout>
              <c:x val="7.5702075702075697E-2"/>
              <c:y val="-2.6897222355010658E-2"/>
            </c:manualLayout>
          </c:layout>
          <c:spPr>
            <a:solidFill>
              <a:sysClr val="windowText" lastClr="000000">
                <a:lumMod val="65000"/>
                <a:lumOff val="35000"/>
              </a:sysClr>
            </a:solidFill>
            <a:ln>
              <a:solidFill>
                <a:sysClr val="window" lastClr="FFFFFF">
                  <a:lumMod val="50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4"/>
        <c:spPr>
          <a:gradFill>
            <a:gsLst>
              <a:gs pos="100000">
                <a:schemeClr val="accent4"/>
              </a:gs>
              <a:gs pos="0">
                <a:schemeClr val="accent4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dLbl>
          <c:idx val="0"/>
          <c:layout>
            <c:manualLayout>
              <c:x val="-7.3260073260073263E-2"/>
              <c:y val="-1.5369841345720376E-2"/>
            </c:manualLayout>
          </c:layout>
          <c:spPr>
            <a:solidFill>
              <a:sysClr val="windowText" lastClr="000000">
                <a:lumMod val="65000"/>
                <a:lumOff val="35000"/>
              </a:sysClr>
            </a:solidFill>
            <a:ln>
              <a:solidFill>
                <a:sysClr val="window" lastClr="FFFFFF">
                  <a:lumMod val="50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5"/>
        <c:spPr>
          <a:gradFill>
            <a:gsLst>
              <a:gs pos="100000">
                <a:schemeClr val="accent4"/>
              </a:gs>
              <a:gs pos="0">
                <a:schemeClr val="accent4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dLbl>
          <c:idx val="0"/>
          <c:layout>
            <c:manualLayout>
              <c:x val="-6.5934065934065936E-2"/>
              <c:y val="5.7636905046451345E-2"/>
            </c:manualLayout>
          </c:layout>
          <c:spPr>
            <a:solidFill>
              <a:sysClr val="windowText" lastClr="000000">
                <a:lumMod val="65000"/>
                <a:lumOff val="35000"/>
              </a:sysClr>
            </a:solidFill>
            <a:ln>
              <a:solidFill>
                <a:sysClr val="window" lastClr="FFFFFF">
                  <a:lumMod val="50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6"/>
        <c:spPr>
          <a:gradFill>
            <a:gsLst>
              <a:gs pos="100000">
                <a:schemeClr val="accent4"/>
              </a:gs>
              <a:gs pos="0">
                <a:schemeClr val="accent4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marker>
          <c:symbol val="none"/>
        </c:marker>
        <c:dLbl>
          <c:idx val="0"/>
          <c:spPr>
            <a:solidFill>
              <a:sysClr val="windowText" lastClr="000000">
                <a:lumMod val="65000"/>
                <a:lumOff val="35000"/>
              </a:sysClr>
            </a:solidFill>
            <a:ln>
              <a:solidFill>
                <a:sysClr val="window" lastClr="FFFFFF">
                  <a:lumMod val="50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7"/>
        <c:spPr>
          <a:gradFill>
            <a:gsLst>
              <a:gs pos="100000">
                <a:schemeClr val="accent4"/>
              </a:gs>
              <a:gs pos="0">
                <a:schemeClr val="accent4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dLbl>
          <c:idx val="0"/>
          <c:layout>
            <c:manualLayout>
              <c:x val="7.5702075702075697E-2"/>
              <c:y val="-2.6897222355010658E-2"/>
            </c:manualLayout>
          </c:layout>
          <c:spPr>
            <a:solidFill>
              <a:sysClr val="windowText" lastClr="000000">
                <a:lumMod val="65000"/>
                <a:lumOff val="35000"/>
              </a:sysClr>
            </a:solidFill>
            <a:ln>
              <a:solidFill>
                <a:sysClr val="window" lastClr="FFFFFF">
                  <a:lumMod val="50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8"/>
        <c:spPr>
          <a:gradFill>
            <a:gsLst>
              <a:gs pos="100000">
                <a:schemeClr val="accent4"/>
              </a:gs>
              <a:gs pos="0">
                <a:schemeClr val="accent4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dLbl>
          <c:idx val="0"/>
          <c:layout>
            <c:manualLayout>
              <c:x val="-7.3260073260073263E-2"/>
              <c:y val="-1.5369841345720376E-2"/>
            </c:manualLayout>
          </c:layout>
          <c:spPr>
            <a:solidFill>
              <a:sysClr val="windowText" lastClr="000000">
                <a:lumMod val="65000"/>
                <a:lumOff val="35000"/>
              </a:sysClr>
            </a:solidFill>
            <a:ln>
              <a:solidFill>
                <a:sysClr val="window" lastClr="FFFFFF">
                  <a:lumMod val="50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9"/>
        <c:spPr>
          <a:gradFill>
            <a:gsLst>
              <a:gs pos="100000">
                <a:schemeClr val="accent4"/>
              </a:gs>
              <a:gs pos="0">
                <a:schemeClr val="accent4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innerShdw dist="12700" dir="16200000">
              <a:schemeClr val="lt1">
                <a:alpha val="75000"/>
              </a:schemeClr>
            </a:innerShdw>
          </a:effectLst>
        </c:spPr>
        <c:dLbl>
          <c:idx val="0"/>
          <c:layout>
            <c:manualLayout>
              <c:x val="-6.5934065934065936E-2"/>
              <c:y val="5.7636905046451345E-2"/>
            </c:manualLayout>
          </c:layout>
          <c:spPr>
            <a:solidFill>
              <a:sysClr val="windowText" lastClr="000000">
                <a:lumMod val="65000"/>
                <a:lumOff val="35000"/>
              </a:sysClr>
            </a:solidFill>
            <a:ln>
              <a:solidFill>
                <a:sysClr val="window" lastClr="FFFFFF">
                  <a:lumMod val="50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</c:pivotFmts>
    <c:plotArea>
      <c:layout/>
      <c:areaChart>
        <c:grouping val="stacked"/>
        <c:varyColors val="0"/>
        <c:ser>
          <c:idx val="0"/>
          <c:order val="0"/>
          <c:tx>
            <c:strRef>
              <c:f>Sheet2!$B$18</c:f>
              <c:strCache>
                <c:ptCount val="1"/>
                <c:pt idx="0">
                  <c:v>Total</c:v>
                </c:pt>
              </c:strCache>
            </c:strRef>
          </c:tx>
          <c:spPr>
            <a:gradFill>
              <a:gsLst>
                <a:gs pos="100000">
                  <a:schemeClr val="accent4"/>
                </a:gs>
                <a:gs pos="0">
                  <a:schemeClr val="accent4">
                    <a:lumMod val="75000"/>
                  </a:schemeClr>
                </a:gs>
              </a:gsLst>
              <a:lin ang="0" scaled="1"/>
            </a:gradFill>
            <a:ln>
              <a:noFill/>
            </a:ln>
            <a:effectLst>
              <a:innerShdw dist="12700" dir="16200000">
                <a:schemeClr val="lt1">
                  <a:alpha val="75000"/>
                </a:schemeClr>
              </a:innerShdw>
            </a:effectLst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A333-4DEF-9723-04B3A05D62E6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1-A333-4DEF-9723-04B3A05D62E6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2-A333-4DEF-9723-04B3A05D62E6}"/>
              </c:ext>
            </c:extLst>
          </c:dPt>
          <c:dLbls>
            <c:dLbl>
              <c:idx val="0"/>
              <c:layout>
                <c:manualLayout>
                  <c:x val="7.5702075702075697E-2"/>
                  <c:y val="-2.68972223550106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333-4DEF-9723-04B3A05D62E6}"/>
                </c:ext>
              </c:extLst>
            </c:dLbl>
            <c:dLbl>
              <c:idx val="1"/>
              <c:layout>
                <c:manualLayout>
                  <c:x val="-7.3260073260073263E-2"/>
                  <c:y val="-1.53698413457203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333-4DEF-9723-04B3A05D62E6}"/>
                </c:ext>
              </c:extLst>
            </c:dLbl>
            <c:dLbl>
              <c:idx val="2"/>
              <c:layout>
                <c:manualLayout>
                  <c:x val="-6.5934065934065936E-2"/>
                  <c:y val="5.76369050464513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333-4DEF-9723-04B3A05D62E6}"/>
                </c:ext>
              </c:extLst>
            </c:dLbl>
            <c:spPr>
              <a:solidFill>
                <a:sysClr val="windowText" lastClr="000000">
                  <a:lumMod val="65000"/>
                  <a:lumOff val="35000"/>
                </a:sysClr>
              </a:solidFill>
              <a:ln>
                <a:solidFill>
                  <a:sysClr val="window" lastClr="FFFFFF">
                    <a:lumMod val="50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Sheet2!$A$19:$A$22</c:f>
              <c:strCache>
                <c:ptCount val="3"/>
                <c:pt idx="0">
                  <c:v>Bangalore</c:v>
                </c:pt>
                <c:pt idx="1">
                  <c:v>Chennai</c:v>
                </c:pt>
                <c:pt idx="2">
                  <c:v>Hyderabad</c:v>
                </c:pt>
              </c:strCache>
            </c:strRef>
          </c:cat>
          <c:val>
            <c:numRef>
              <c:f>Sheet2!$B$19:$B$22</c:f>
              <c:numCache>
                <c:formatCode>General</c:formatCode>
                <c:ptCount val="3"/>
                <c:pt idx="0">
                  <c:v>1518</c:v>
                </c:pt>
                <c:pt idx="1">
                  <c:v>1468</c:v>
                </c:pt>
                <c:pt idx="2">
                  <c:v>1614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333-4DEF-9723-04B3A05D62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lt1">
                  <a:alpha val="40000"/>
                </a:schemeClr>
              </a:solidFill>
              <a:round/>
            </a:ln>
            <a:effectLst/>
          </c:spPr>
        </c:dropLines>
        <c:axId val="811868752"/>
        <c:axId val="811869232"/>
      </c:areaChart>
      <c:catAx>
        <c:axId val="811868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75" cap="flat" cmpd="sng" algn="ctr">
            <a:solidFill>
              <a:schemeClr val="lt1">
                <a:lumMod val="7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cap="all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1869232"/>
        <c:crosses val="autoZero"/>
        <c:auto val="1"/>
        <c:lblAlgn val="ctr"/>
        <c:lblOffset val="100"/>
        <c:noMultiLvlLbl val="0"/>
      </c:catAx>
      <c:valAx>
        <c:axId val="81186923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186875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lt1">
          <a:lumMod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[New Excel Project 19.03.2026.xlsx]Sheet2!Fraud Distribution</c:name>
    <c:fmtId val="4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Fraud</a:t>
            </a:r>
            <a:r>
              <a:rPr lang="en-US" baseline="0" dirty="0"/>
              <a:t> Distribution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circle"/>
          <c:size val="6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Sheet2!$B$37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313F-408F-AD8E-62AB842E329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313F-408F-AD8E-62AB842E329E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Sheet2!$A$38:$A$40</c:f>
              <c:strCache>
                <c:ptCount val="2"/>
                <c:pt idx="0">
                  <c:v>0</c:v>
                </c:pt>
                <c:pt idx="1">
                  <c:v>1</c:v>
                </c:pt>
              </c:strCache>
            </c:strRef>
          </c:cat>
          <c:val>
            <c:numRef>
              <c:f>Sheet2!$B$38:$B$40</c:f>
              <c:numCache>
                <c:formatCode>General</c:formatCode>
                <c:ptCount val="2"/>
                <c:pt idx="0">
                  <c:v>7011</c:v>
                </c:pt>
                <c:pt idx="1">
                  <c:v>489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13F-408F-AD8E-62AB842E329E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kern="1200" spc="100" baseline="0">
                <a:solidFill>
                  <a:sysClr val="window" lastClr="FFFFFF">
                    <a:lumMod val="95000"/>
                  </a:sys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spc="100" baseline="0" dirty="0">
                <a:solidFill>
                  <a:sysClr val="window" lastClr="FFFFFF">
                    <a:lumMod val="95000"/>
                  </a:sys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Behavior Analysis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ysClr val="window" lastClr="FFFFFF">
                    <a:lumMod val="95000"/>
                  </a:sysClr>
                </a:solidFill>
              </a:defRPr>
            </a:pP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600" b="1" i="0" u="none" strike="noStrike" kern="1200" spc="100" baseline="0">
              <a:solidFill>
                <a:sysClr val="window" lastClr="FFFFFF">
                  <a:lumMod val="95000"/>
                </a:sys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Sheet2!$A$57:$A$60</c:f>
              <c:strCache>
                <c:ptCount val="4"/>
                <c:pt idx="0">
                  <c:v>Risk Category</c:v>
                </c:pt>
                <c:pt idx="1">
                  <c:v>HIGH</c:v>
                </c:pt>
                <c:pt idx="2">
                  <c:v>LOW</c:v>
                </c:pt>
                <c:pt idx="3">
                  <c:v>MEDIUM</c:v>
                </c:pt>
              </c:strCache>
            </c:strRef>
          </c:cat>
          <c:val>
            <c:numRef>
              <c:f>Sheet2!$B$57:$B$60</c:f>
              <c:numCache>
                <c:formatCode>General</c:formatCode>
                <c:ptCount val="4"/>
                <c:pt idx="0">
                  <c:v>0</c:v>
                </c:pt>
                <c:pt idx="1">
                  <c:v>5.0104239054899233</c:v>
                </c:pt>
                <c:pt idx="2">
                  <c:v>4.9891055045871564</c:v>
                </c:pt>
                <c:pt idx="3">
                  <c:v>4.9568138195777349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EF-42F9-8B81-81198C93A415}"/>
            </c:ext>
          </c:extLst>
        </c:ser>
        <c:ser>
          <c:idx val="1"/>
          <c:order val="1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Sheet2!$A$57:$A$60</c:f>
              <c:strCache>
                <c:ptCount val="4"/>
                <c:pt idx="0">
                  <c:v>Risk Category</c:v>
                </c:pt>
                <c:pt idx="1">
                  <c:v>HIGH</c:v>
                </c:pt>
                <c:pt idx="2">
                  <c:v>LOW</c:v>
                </c:pt>
                <c:pt idx="3">
                  <c:v>MEDIUM</c:v>
                </c:pt>
              </c:strCache>
            </c:strRef>
          </c:cat>
          <c:val>
            <c:numRef>
              <c:f>Sheet2!$C$57:$C$60</c:f>
              <c:numCache>
                <c:formatCode>General</c:formatCode>
                <c:ptCount val="4"/>
                <c:pt idx="0">
                  <c:v>1</c:v>
                </c:pt>
                <c:pt idx="1">
                  <c:v>4.7304347826086959</c:v>
                </c:pt>
                <c:pt idx="2">
                  <c:v>5.4703557312252968</c:v>
                </c:pt>
                <c:pt idx="3">
                  <c:v>4.9008264462809921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EF-42F9-8B81-81198C93A41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92087855"/>
        <c:axId val="492085455"/>
      </c:barChart>
      <c:catAx>
        <c:axId val="4920878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2085455"/>
        <c:crosses val="autoZero"/>
        <c:auto val="1"/>
        <c:lblAlgn val="ctr"/>
        <c:lblOffset val="100"/>
        <c:noMultiLvlLbl val="0"/>
      </c:catAx>
      <c:valAx>
        <c:axId val="49208545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2087855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lt1">
                <a:lumMod val="95000"/>
                <a:alpha val="54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77">
  <cs:axisTitle>
    <cs:lnRef idx="0"/>
    <cs:fillRef idx="0"/>
    <cs:effectRef idx="0"/>
    <cs:fontRef idx="minor">
      <a:schemeClr val="lt1">
        <a:lumMod val="85000"/>
      </a:schemeClr>
    </cs:fontRef>
    <cs:defRPr sz="900" kern="1200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75" cap="flat" cmpd="sng" algn="ctr">
        <a:solidFill>
          <a:schemeClr val="lt1">
            <a:lumMod val="75000"/>
          </a:schemeClr>
        </a:solidFill>
        <a:round/>
        <a:headEnd type="none" w="sm" len="sm"/>
        <a:tailEnd type="none" w="sm" len="sm"/>
      </a:ln>
    </cs:spPr>
    <cs:defRPr sz="900" b="1" kern="1200" cap="all" baseline="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lt1">
            <a:lumMod val="7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85000"/>
      </a:schemeClr>
    </cs:fontRef>
    <cs:spPr>
      <a:solidFill>
        <a:schemeClr val="dk1">
          <a:lumMod val="65000"/>
          <a:lumOff val="35000"/>
        </a:schemeClr>
      </a:solidFill>
      <a:ln>
        <a:solidFill>
          <a:schemeClr val="lt1">
            <a:lumMod val="50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>
        <a:gsLst>
          <a:gs pos="100000">
            <a:schemeClr val="phClr"/>
          </a:gs>
          <a:gs pos="0">
            <a:schemeClr val="phClr">
              <a:lumMod val="75000"/>
            </a:schemeClr>
          </a:gs>
        </a:gsLst>
        <a:lin ang="0" scaled="1"/>
      </a:gradFill>
      <a:effectLst>
        <a:innerShdw dist="12700" dir="16200000">
          <a:schemeClr val="lt1">
            <a:alpha val="75000"/>
          </a:schemeClr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100000">
            <a:schemeClr val="phClr"/>
          </a:gs>
          <a:gs pos="0">
            <a:schemeClr val="phClr">
              <a:lumMod val="75000"/>
            </a:schemeClr>
          </a:gs>
        </a:gsLst>
        <a:lin ang="0" scaled="1"/>
      </a:gradFill>
      <a:effectLst>
        <a:innerShdw dist="12700" dir="16200000">
          <a:schemeClr val="lt1">
            <a:alpha val="75000"/>
          </a:schemeClr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540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50000"/>
      </a:schemeClr>
    </cs:fontRef>
    <cs:spPr>
      <a:ln w="9525">
        <a:solidFill>
          <a:schemeClr val="lt1">
            <a:lumMod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4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4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prstDash val="sysDot"/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6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bg1">
        <a:lumMod val="85000"/>
      </a:schemeClr>
    </cs:fontRef>
    <cs:spPr>
      <a:ln w="19050" cap="flat" cmpd="sng" algn="ctr">
        <a:solidFill>
          <a:schemeClr val="bg1">
            <a:lumMod val="85000"/>
          </a:schemeClr>
        </a:solidFill>
        <a:round/>
        <a:headEnd type="none" w="sm" len="sm"/>
        <a:tailEnd type="none" w="sm" len="sm"/>
      </a:ln>
    </cs:spPr>
    <cs:defRPr sz="900" b="1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ajor">
      <a:schemeClr val="lt1">
        <a:lumMod val="8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F45941E-B870-473F-A0D8-6B6A2503C426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968CB20-16B6-4630-9D86-A2C4A1A83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748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5941E-B870-473F-A0D8-6B6A2503C426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8CB20-16B6-4630-9D86-A2C4A1A83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060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5941E-B870-473F-A0D8-6B6A2503C426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8CB20-16B6-4630-9D86-A2C4A1A83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482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5941E-B870-473F-A0D8-6B6A2503C426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8CB20-16B6-4630-9D86-A2C4A1A83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27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5941E-B870-473F-A0D8-6B6A2503C426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8CB20-16B6-4630-9D86-A2C4A1A83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451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5941E-B870-473F-A0D8-6B6A2503C426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8CB20-16B6-4630-9D86-A2C4A1A83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50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5941E-B870-473F-A0D8-6B6A2503C426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8CB20-16B6-4630-9D86-A2C4A1A83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058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5941E-B870-473F-A0D8-6B6A2503C426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8CB20-16B6-4630-9D86-A2C4A1A83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356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5941E-B870-473F-A0D8-6B6A2503C426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8CB20-16B6-4630-9D86-A2C4A1A83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105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5941E-B870-473F-A0D8-6B6A2503C426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8CB20-16B6-4630-9D86-A2C4A1A83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340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5941E-B870-473F-A0D8-6B6A2503C426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8CB20-16B6-4630-9D86-A2C4A1A83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529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5941E-B870-473F-A0D8-6B6A2503C426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8CB20-16B6-4630-9D86-A2C4A1A83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5477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5941E-B870-473F-A0D8-6B6A2503C426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8CB20-16B6-4630-9D86-A2C4A1A83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326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5941E-B870-473F-A0D8-6B6A2503C426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8CB20-16B6-4630-9D86-A2C4A1A83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947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5941E-B870-473F-A0D8-6B6A2503C426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8CB20-16B6-4630-9D86-A2C4A1A83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781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F45941E-B870-473F-A0D8-6B6A2503C426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8CB20-16B6-4630-9D86-A2C4A1A83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2320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F45941E-B870-473F-A0D8-6B6A2503C426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8CB20-16B6-4630-9D86-A2C4A1A83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338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F45941E-B870-473F-A0D8-6B6A2503C426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968CB20-16B6-4630-9D86-A2C4A1A83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028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  <p:sldLayoutId id="2147483857" r:id="rId12"/>
    <p:sldLayoutId id="2147483858" r:id="rId13"/>
    <p:sldLayoutId id="2147483859" r:id="rId14"/>
    <p:sldLayoutId id="2147483860" r:id="rId15"/>
    <p:sldLayoutId id="2147483861" r:id="rId16"/>
    <p:sldLayoutId id="214748386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4F457-4EEC-A63C-096B-03576E460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9882090" cy="267764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Digital Payment Fraud Detection Dashboard</a:t>
            </a:r>
            <a:br>
              <a:rPr lang="en-US" dirty="0"/>
            </a:br>
            <a:r>
              <a:rPr lang="en-IN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IN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Komal Warang </a:t>
            </a:r>
            <a:b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29A750-D71D-5E54-4DA4-DB076D2495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9961280" cy="861420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Fraud Analytics &amp; Risk Monitoring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Presentation Date: 09/01/2026</a:t>
            </a:r>
          </a:p>
          <a:p>
            <a:pPr algn="ctr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70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F1F44-58C7-2ED0-130A-3B4AD3F75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Statement/Overview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84EEF-7AA3-F3F1-D13C-60C0027A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4954" y="2603499"/>
            <a:ext cx="4825157" cy="1036171"/>
          </a:xfrm>
        </p:spPr>
        <p:txBody>
          <a:bodyPr/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A22113-9C65-9A2A-BA59-BE28B3974D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Digital payment systems generate massive transaction data.</a:t>
            </a:r>
          </a:p>
          <a:p>
            <a:pPr lvl="1"/>
            <a:r>
              <a:rPr lang="en-US" dirty="0"/>
              <a:t>Need dashboard to analyze fraud patterns efficiently.</a:t>
            </a:r>
          </a:p>
          <a:p>
            <a:pPr lvl="1"/>
            <a:r>
              <a:rPr lang="en-US" dirty="0"/>
              <a:t>Track high-risk transactions and prevent financial losses.</a:t>
            </a:r>
          </a:p>
          <a:p>
            <a:pPr lvl="1"/>
            <a:r>
              <a:rPr lang="en-US" dirty="0"/>
              <a:t>Enable quick and data-driven fraud decisions.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1BDAA4-91F6-091D-B9BB-B4E8755E25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Overview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C7A0CA-59E9-9FCB-5FBA-D1F45BF0AC5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dirty="0"/>
              <a:t>Single dashboard view for transaction analysis.</a:t>
            </a:r>
          </a:p>
          <a:p>
            <a:pPr lvl="1"/>
            <a:r>
              <a:rPr lang="en-US" dirty="0"/>
              <a:t>Identify fraud patterns using behavior &amp; risk signals.</a:t>
            </a:r>
          </a:p>
          <a:p>
            <a:pPr lvl="1"/>
            <a:r>
              <a:rPr lang="en-US" dirty="0"/>
              <a:t>Track fraud trends by hour, month, and payment mode.</a:t>
            </a:r>
          </a:p>
          <a:p>
            <a:pPr lvl="1"/>
            <a:r>
              <a:rPr lang="en-US" dirty="0"/>
              <a:t>Support fraud prevention strategy.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770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E4773-30BD-086C-3C8F-F201DADF8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940" y="2017059"/>
            <a:ext cx="5253319" cy="2707341"/>
          </a:xfrm>
        </p:spPr>
        <p:txBody>
          <a:bodyPr>
            <a:normAutofit/>
          </a:bodyPr>
          <a:lstStyle/>
          <a:p>
            <a:r>
              <a:rPr lang="en-US" dirty="0"/>
              <a:t>Who Will Use This Dashboard?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58A36-B4CD-91B9-E9CC-A9081D3C9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42846" y="1004047"/>
            <a:ext cx="5253319" cy="4966447"/>
          </a:xfrm>
        </p:spPr>
        <p:txBody>
          <a:bodyPr>
            <a:normAutofit/>
          </a:bodyPr>
          <a:lstStyle/>
          <a:p>
            <a:r>
              <a:rPr lang="en-US" dirty="0"/>
              <a:t>● </a:t>
            </a:r>
            <a:r>
              <a:rPr lang="en-US" b="1" dirty="0">
                <a:solidFill>
                  <a:schemeClr val="tx1"/>
                </a:solidFill>
              </a:rPr>
              <a:t>Fraud Risk &amp; Compliance Teams</a:t>
            </a:r>
          </a:p>
          <a:p>
            <a:pPr lvl="1"/>
            <a:r>
              <a:rPr lang="en-US" dirty="0"/>
              <a:t>- Banking &amp; FinTech Management</a:t>
            </a:r>
          </a:p>
          <a:p>
            <a:pPr lvl="1"/>
            <a:r>
              <a:rPr lang="en-US" dirty="0"/>
              <a:t>- Cybersecurity Teams</a:t>
            </a:r>
          </a:p>
          <a:p>
            <a:pPr lvl="1"/>
            <a:r>
              <a:rPr lang="en-US" dirty="0"/>
              <a:t>- Data Analysts &amp; Data Scientists</a:t>
            </a:r>
          </a:p>
          <a:p>
            <a:pPr lvl="1"/>
            <a:r>
              <a:rPr lang="en-US" dirty="0"/>
              <a:t>- Students &amp; Analytics Learners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342948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9C984-5B1D-B852-C0FA-C398331AA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092798"/>
            <a:ext cx="8105587" cy="57626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Data Overview</a:t>
            </a:r>
            <a:b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841E2-1F35-33D1-AB74-FBCCB5C1E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2C86E6-8E52-CA83-8EE5-69BAD199AD21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154953" y="2814918"/>
            <a:ext cx="3141879" cy="3212140"/>
          </a:xfrm>
        </p:spPr>
        <p:txBody>
          <a:bodyPr/>
          <a:lstStyle/>
          <a:p>
            <a:r>
              <a:rPr lang="en-US" dirty="0"/>
              <a:t>●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5D94E0-188F-A2FD-16A5-FB0E4F8DB7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A7E6A6E-0908-4581-3F58-45031E97073A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512721" y="2814917"/>
            <a:ext cx="3147009" cy="3212139"/>
          </a:xfrm>
        </p:spPr>
        <p:txBody>
          <a:bodyPr/>
          <a:lstStyle/>
          <a:p>
            <a:r>
              <a:rPr lang="en-US" dirty="0"/>
              <a:t>● Transaction Dataset</a:t>
            </a:r>
          </a:p>
          <a:p>
            <a:r>
              <a:rPr lang="en-US" dirty="0"/>
              <a:t>   ● Rows: 7503</a:t>
            </a:r>
          </a:p>
          <a:p>
            <a:r>
              <a:rPr lang="en-US" dirty="0"/>
              <a:t>   ● Columns: 17</a:t>
            </a:r>
          </a:p>
          <a:p>
            <a:r>
              <a:rPr lang="en-US" dirty="0"/>
              <a:t>   ● Includes Fraud Label (0 =             Genuine, 1 = Fraud)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C7E769-7CB3-5995-8F8F-0BB37C6FBA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Key Fields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C9259B2-8D93-FA67-54E5-1D1DD343527D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888328" y="2707341"/>
            <a:ext cx="3891295" cy="3684493"/>
          </a:xfrm>
        </p:spPr>
        <p:txBody>
          <a:bodyPr/>
          <a:lstStyle/>
          <a:p>
            <a:r>
              <a:rPr lang="en-US" sz="1800" dirty="0"/>
              <a:t>●Transaction ID, User ID</a:t>
            </a:r>
          </a:p>
          <a:p>
            <a:pPr lvl="1"/>
            <a:r>
              <a:rPr lang="en-US" sz="1600" dirty="0"/>
              <a:t>● Transaction Amount, Payment Mode</a:t>
            </a:r>
          </a:p>
          <a:p>
            <a:pPr lvl="1"/>
            <a:r>
              <a:rPr lang="en-US" sz="1600" dirty="0"/>
              <a:t>● Device Type, Device Location</a:t>
            </a:r>
          </a:p>
          <a:p>
            <a:pPr lvl="1"/>
            <a:r>
              <a:rPr lang="en-US" sz="1600" dirty="0"/>
              <a:t>● IP Risk Score, Login Attempts</a:t>
            </a:r>
          </a:p>
          <a:p>
            <a:pPr lvl="1"/>
            <a:r>
              <a:rPr lang="en-US" sz="1600" dirty="0"/>
              <a:t>● International Flag, Fraud Label</a:t>
            </a:r>
          </a:p>
          <a:p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C89CB8-1581-54D5-5A79-F0B11618E99A}"/>
              </a:ext>
            </a:extLst>
          </p:cNvPr>
          <p:cNvSpPr txBox="1"/>
          <p:nvPr/>
        </p:nvSpPr>
        <p:spPr>
          <a:xfrm>
            <a:off x="3048000" y="323536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125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B423C-67CE-922A-F6FC-6AFD4480F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730624"/>
          </a:xfrm>
        </p:spPr>
        <p:txBody>
          <a:bodyPr/>
          <a:lstStyle/>
          <a:p>
            <a: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Design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6820D-51A8-8D65-609B-E0BDAD687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5694" y="905435"/>
            <a:ext cx="5558118" cy="524435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KPI Cards: </a:t>
            </a:r>
            <a:r>
              <a:rPr lang="en-IN" dirty="0">
                <a:solidFill>
                  <a:schemeClr val="tx1"/>
                </a:solidFill>
              </a:rPr>
              <a:t>Total Transactions, Total Fraud Cases, Fraud %, Average Transaction Amount</a:t>
            </a:r>
          </a:p>
          <a:p>
            <a:r>
              <a:rPr lang="en-US" b="1" dirty="0">
                <a:solidFill>
                  <a:schemeClr val="tx1"/>
                </a:solidFill>
              </a:rPr>
              <a:t>Stacked Bar: </a:t>
            </a:r>
            <a:r>
              <a:rPr lang="en-US" dirty="0">
                <a:solidFill>
                  <a:schemeClr val="tx1"/>
                </a:solidFill>
              </a:rPr>
              <a:t>Transaction Type Summary</a:t>
            </a:r>
          </a:p>
          <a:p>
            <a:r>
              <a:rPr lang="en-US" b="1" dirty="0">
                <a:solidFill>
                  <a:schemeClr val="tx1"/>
                </a:solidFill>
              </a:rPr>
              <a:t>Clustered Column : </a:t>
            </a:r>
            <a:r>
              <a:rPr lang="en-US" dirty="0">
                <a:solidFill>
                  <a:schemeClr val="tx1"/>
                </a:solidFill>
              </a:rPr>
              <a:t>Device Type Analysis</a:t>
            </a:r>
          </a:p>
          <a:p>
            <a:r>
              <a:rPr lang="en-US" b="1" dirty="0">
                <a:solidFill>
                  <a:schemeClr val="tx1"/>
                </a:solidFill>
              </a:rPr>
              <a:t>3-D Stacked Bar : </a:t>
            </a:r>
            <a:r>
              <a:rPr lang="en-US" dirty="0">
                <a:solidFill>
                  <a:schemeClr val="tx1"/>
                </a:solidFill>
              </a:rPr>
              <a:t>Device Type Fraud Analysis.</a:t>
            </a:r>
          </a:p>
          <a:p>
            <a:r>
              <a:rPr lang="en-US" b="1" dirty="0">
                <a:solidFill>
                  <a:schemeClr val="tx1"/>
                </a:solidFill>
              </a:rPr>
              <a:t>Line with Markers : </a:t>
            </a:r>
            <a:r>
              <a:rPr lang="en-US" dirty="0">
                <a:solidFill>
                  <a:schemeClr val="tx1"/>
                </a:solidFill>
              </a:rPr>
              <a:t>Transaction Type Impact.</a:t>
            </a:r>
          </a:p>
          <a:p>
            <a:r>
              <a:rPr lang="en-US" b="1" dirty="0">
                <a:solidFill>
                  <a:schemeClr val="tx1"/>
                </a:solidFill>
              </a:rPr>
              <a:t>3-D 100% Stacked Column </a:t>
            </a:r>
            <a:r>
              <a:rPr lang="en-US" dirty="0">
                <a:solidFill>
                  <a:schemeClr val="tx1"/>
                </a:solidFill>
              </a:rPr>
              <a:t>: Top 2 Fraud cases by device type &amp; transaction method.</a:t>
            </a:r>
          </a:p>
          <a:p>
            <a:r>
              <a:rPr lang="en-US" b="1" dirty="0">
                <a:solidFill>
                  <a:schemeClr val="tx1"/>
                </a:solidFill>
              </a:rPr>
              <a:t>Stacked Area : </a:t>
            </a:r>
            <a:r>
              <a:rPr lang="en-US" dirty="0">
                <a:solidFill>
                  <a:schemeClr val="tx1"/>
                </a:solidFill>
              </a:rPr>
              <a:t>Top 3 Location wise risk category.</a:t>
            </a:r>
          </a:p>
          <a:p>
            <a:r>
              <a:rPr lang="en-US" b="1" dirty="0">
                <a:solidFill>
                  <a:schemeClr val="tx1"/>
                </a:solidFill>
              </a:rPr>
              <a:t>Pie:</a:t>
            </a:r>
            <a:r>
              <a:rPr lang="en-US" dirty="0">
                <a:solidFill>
                  <a:schemeClr val="tx1"/>
                </a:solidFill>
              </a:rPr>
              <a:t> Fraud Distribution</a:t>
            </a:r>
          </a:p>
          <a:p>
            <a:r>
              <a:rPr lang="en-US" b="1" dirty="0">
                <a:solidFill>
                  <a:schemeClr val="tx1"/>
                </a:solidFill>
              </a:rPr>
              <a:t>Clustered Column: </a:t>
            </a:r>
            <a:r>
              <a:rPr lang="en-US" dirty="0">
                <a:solidFill>
                  <a:schemeClr val="tx1"/>
                </a:solidFill>
              </a:rPr>
              <a:t>Behavior Analysis.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8ED55D-3F0F-5130-065F-A26CFB89F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2303929"/>
            <a:ext cx="2793158" cy="372095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Cards</a:t>
            </a:r>
          </a:p>
          <a:p>
            <a:r>
              <a:rPr lang="en-US" b="1" dirty="0">
                <a:solidFill>
                  <a:schemeClr val="bg1"/>
                </a:solidFill>
              </a:rPr>
              <a:t>Stacked Bar</a:t>
            </a:r>
          </a:p>
          <a:p>
            <a:r>
              <a:rPr lang="en-US" b="1" dirty="0">
                <a:solidFill>
                  <a:schemeClr val="bg1"/>
                </a:solidFill>
              </a:rPr>
              <a:t>Clustered Column</a:t>
            </a:r>
          </a:p>
          <a:p>
            <a:r>
              <a:rPr lang="en-US" b="1" dirty="0">
                <a:solidFill>
                  <a:schemeClr val="bg1"/>
                </a:solidFill>
              </a:rPr>
              <a:t>3-D Stacked Bar</a:t>
            </a:r>
          </a:p>
          <a:p>
            <a:r>
              <a:rPr lang="en-US" b="1" dirty="0">
                <a:solidFill>
                  <a:schemeClr val="bg1"/>
                </a:solidFill>
              </a:rPr>
              <a:t>Line With Markers</a:t>
            </a:r>
          </a:p>
          <a:p>
            <a:r>
              <a:rPr lang="en-US" b="1" dirty="0">
                <a:solidFill>
                  <a:schemeClr val="bg1"/>
                </a:solidFill>
              </a:rPr>
              <a:t>3-D 100% Stacked Column</a:t>
            </a:r>
          </a:p>
          <a:p>
            <a:r>
              <a:rPr lang="en-US" b="1" dirty="0">
                <a:solidFill>
                  <a:schemeClr val="bg1"/>
                </a:solidFill>
              </a:rPr>
              <a:t>Stacked Area</a:t>
            </a:r>
          </a:p>
          <a:p>
            <a:r>
              <a:rPr lang="en-US" b="1" dirty="0">
                <a:solidFill>
                  <a:schemeClr val="bg1"/>
                </a:solidFill>
              </a:rPr>
              <a:t>Pie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082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9842-DF76-B3C4-E896-53BF8A958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600635"/>
            <a:ext cx="3865134" cy="1255059"/>
          </a:xfrm>
        </p:spPr>
        <p:txBody>
          <a:bodyPr/>
          <a:lstStyle/>
          <a:p>
            <a: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71A893-400A-95BF-6DCB-010D63E49F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2682" y="2312893"/>
            <a:ext cx="5002306" cy="377414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●Total Transaction : 7500</a:t>
            </a:r>
          </a:p>
          <a:p>
            <a:r>
              <a:rPr lang="en-US" dirty="0">
                <a:solidFill>
                  <a:schemeClr val="bg1"/>
                </a:solidFill>
              </a:rPr>
              <a:t>● Total Fraud Cases : 489</a:t>
            </a:r>
          </a:p>
          <a:p>
            <a:r>
              <a:rPr lang="en-US" dirty="0">
                <a:solidFill>
                  <a:schemeClr val="bg1"/>
                </a:solidFill>
              </a:rPr>
              <a:t>● Fraud rate : 6.52% of total transactions .</a:t>
            </a:r>
          </a:p>
          <a:p>
            <a:r>
              <a:rPr lang="en-US" dirty="0">
                <a:solidFill>
                  <a:schemeClr val="bg1"/>
                </a:solidFill>
              </a:rPr>
              <a:t>● Average transactions amount: 24814</a:t>
            </a:r>
          </a:p>
          <a:p>
            <a:r>
              <a:rPr lang="en-US" dirty="0">
                <a:solidFill>
                  <a:schemeClr val="bg1"/>
                </a:solidFill>
              </a:rPr>
              <a:t>● A small percentage of transactions are fraudulent , </a:t>
            </a:r>
          </a:p>
          <a:p>
            <a:r>
              <a:rPr lang="en-US" dirty="0">
                <a:solidFill>
                  <a:schemeClr val="bg1"/>
                </a:solidFill>
              </a:rPr>
              <a:t>But due to the high transactions amount, the financial risk  can still be significant.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082A5D-D681-F1CC-91C0-2C958DC3A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601302"/>
              </p:ext>
            </p:extLst>
          </p:nvPr>
        </p:nvGraphicFramePr>
        <p:xfrm>
          <a:off x="6033247" y="2065873"/>
          <a:ext cx="6158752" cy="2264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3549">
                  <a:extLst>
                    <a:ext uri="{9D8B030D-6E8A-4147-A177-3AD203B41FA5}">
                      <a16:colId xmlns:a16="http://schemas.microsoft.com/office/drawing/2014/main" val="1518271912"/>
                    </a:ext>
                  </a:extLst>
                </a:gridCol>
                <a:gridCol w="1454465">
                  <a:extLst>
                    <a:ext uri="{9D8B030D-6E8A-4147-A177-3AD203B41FA5}">
                      <a16:colId xmlns:a16="http://schemas.microsoft.com/office/drawing/2014/main" val="794096478"/>
                    </a:ext>
                  </a:extLst>
                </a:gridCol>
                <a:gridCol w="1454465">
                  <a:extLst>
                    <a:ext uri="{9D8B030D-6E8A-4147-A177-3AD203B41FA5}">
                      <a16:colId xmlns:a16="http://schemas.microsoft.com/office/drawing/2014/main" val="3839602986"/>
                    </a:ext>
                  </a:extLst>
                </a:gridCol>
                <a:gridCol w="1636273">
                  <a:extLst>
                    <a:ext uri="{9D8B030D-6E8A-4147-A177-3AD203B41FA5}">
                      <a16:colId xmlns:a16="http://schemas.microsoft.com/office/drawing/2014/main" val="523992575"/>
                    </a:ext>
                  </a:extLst>
                </a:gridCol>
              </a:tblGrid>
              <a:tr h="1399937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3100" u="none" strike="noStrike" dirty="0">
                          <a:effectLst/>
                        </a:rPr>
                        <a:t>DIGITAL PAYMENT FRAUD DETECTION DASHBOARD</a:t>
                      </a:r>
                      <a:endParaRPr lang="en-US" sz="3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591038"/>
                  </a:ext>
                </a:extLst>
              </a:tr>
              <a:tr h="8641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Total Transactions  7500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Total Fraud Cases 489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Fraud %  6.52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Average Transaction Amount 24814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ctr"/>
                </a:tc>
                <a:extLst>
                  <a:ext uri="{0D108BD9-81ED-4DB2-BD59-A6C34878D82A}">
                    <a16:rowId xmlns:a16="http://schemas.microsoft.com/office/drawing/2014/main" val="1382481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379493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4C78E-95E8-9F62-552D-D39096EED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47801"/>
            <a:ext cx="3853330" cy="587188"/>
          </a:xfrm>
        </p:spPr>
        <p:txBody>
          <a:bodyPr/>
          <a:lstStyle/>
          <a:p>
            <a: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5F7F6-C560-CEDB-C944-96D4AF119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732FF7-82C2-3F73-F331-5490AD2CD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6847" y="2034990"/>
            <a:ext cx="3951941" cy="398989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●Payment (2352), Transfer (2330), and Withdrawal (2329) show almost equal transaction distribution.</a:t>
            </a:r>
          </a:p>
          <a:p>
            <a:r>
              <a:rPr lang="en-US" dirty="0">
                <a:solidFill>
                  <a:schemeClr val="bg1"/>
                </a:solidFill>
              </a:rPr>
              <a:t>● Fraud count are very low compared to total transaction: Payment(159),Transfer(160), Withdrawal(170).</a:t>
            </a:r>
          </a:p>
          <a:p>
            <a:r>
              <a:rPr lang="en-US" dirty="0">
                <a:solidFill>
                  <a:schemeClr val="bg1"/>
                </a:solidFill>
              </a:rPr>
              <a:t>● Withdrawals have the highest fraud count (170), indicating relatively higher risk.</a:t>
            </a:r>
          </a:p>
          <a:p>
            <a:r>
              <a:rPr lang="en-US" dirty="0">
                <a:solidFill>
                  <a:schemeClr val="bg1"/>
                </a:solidFill>
              </a:rPr>
              <a:t>● Since fraud is evenly distributed, monitoring should be applied uniformly rather than focusing on one transaction type.</a:t>
            </a:r>
          </a:p>
          <a:p>
            <a:r>
              <a:rPr lang="en-US" dirty="0">
                <a:solidFill>
                  <a:schemeClr val="bg1"/>
                </a:solidFill>
              </a:rPr>
              <a:t>● Slightly stronger fraud control can be applied to withdrawals due to marginally higher fraud cases.</a:t>
            </a:r>
            <a:endParaRPr lang="en-US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549C0D0-9B27-4D2C-A8D6-484F791892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2324750"/>
              </p:ext>
            </p:extLst>
          </p:nvPr>
        </p:nvGraphicFramePr>
        <p:xfrm>
          <a:off x="5588551" y="1447800"/>
          <a:ext cx="5895237" cy="3787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61868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0C7C5-3158-375C-0A9A-2F9C5C4D4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59266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4D6E45-FC2E-C0A5-5E65-7893C7569E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5" y="2286000"/>
            <a:ext cx="4562453" cy="3720589"/>
          </a:xfrm>
        </p:spPr>
        <p:txBody>
          <a:bodyPr>
            <a:normAutofit/>
          </a:bodyPr>
          <a:lstStyle/>
          <a:p>
            <a:r>
              <a:rPr lang="en-US" sz="1700" dirty="0">
                <a:solidFill>
                  <a:schemeClr val="bg1"/>
                </a:solidFill>
              </a:rPr>
              <a:t>● Indicates maximum user transactions from Android devices.</a:t>
            </a:r>
          </a:p>
          <a:p>
            <a:r>
              <a:rPr lang="en-US" dirty="0">
                <a:solidFill>
                  <a:schemeClr val="bg1"/>
                </a:solidFill>
              </a:rPr>
              <a:t>● Web usage is strong and close to Android ,showing multi-platform engagement.</a:t>
            </a:r>
          </a:p>
          <a:p>
            <a:r>
              <a:rPr lang="en-US" dirty="0">
                <a:solidFill>
                  <a:schemeClr val="bg1"/>
                </a:solidFill>
              </a:rPr>
              <a:t>● IOS has the lower activity compared to Android &amp; Web,</a:t>
            </a:r>
          </a:p>
          <a:p>
            <a:r>
              <a:rPr lang="en-US" dirty="0">
                <a:solidFill>
                  <a:schemeClr val="bg1"/>
                </a:solidFill>
              </a:rPr>
              <a:t>●User behavior is relatively consistent across platforms.</a:t>
            </a:r>
          </a:p>
          <a:p>
            <a:r>
              <a:rPr lang="en-US" dirty="0">
                <a:solidFill>
                  <a:schemeClr val="bg1"/>
                </a:solidFill>
              </a:rPr>
              <a:t>●Balanced distribution no device dominates significantly.</a:t>
            </a:r>
          </a:p>
          <a:p>
            <a:r>
              <a:rPr lang="en-US" dirty="0">
                <a:solidFill>
                  <a:schemeClr val="bg1"/>
                </a:solidFill>
              </a:rPr>
              <a:t>●Focus optimization on Android &amp; Web but explore growth opportunities for IOS users.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Picture Placeholder 6">
            <a:extLst>
              <a:ext uri="{FF2B5EF4-FFF2-40B4-BE49-F238E27FC236}">
                <a16:creationId xmlns:a16="http://schemas.microsoft.com/office/drawing/2014/main" id="{4C2B4C6B-3318-4C87-A00E-7A2AF678C22C}"/>
              </a:ext>
            </a:extLst>
          </p:cNvPr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1989471500"/>
              </p:ext>
            </p:extLst>
          </p:nvPr>
        </p:nvGraphicFramePr>
        <p:xfrm>
          <a:off x="6096001" y="1434352"/>
          <a:ext cx="5773270" cy="42806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58410316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F86BE-C54D-CA0C-8FD3-675E299A3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106" y="995082"/>
            <a:ext cx="4546755" cy="797859"/>
          </a:xfrm>
        </p:spPr>
        <p:txBody>
          <a:bodyPr/>
          <a:lstStyle/>
          <a:p>
            <a: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b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9E57C-5A35-34C7-4906-B46CD7534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8E8042C-1EF6-4F83-B019-FC85175B65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8040424"/>
              </p:ext>
            </p:extLst>
          </p:nvPr>
        </p:nvGraphicFramePr>
        <p:xfrm>
          <a:off x="6686023" y="1497106"/>
          <a:ext cx="5380471" cy="38817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20AE904E-1551-A6E4-78C3-49181617F5B4}"/>
              </a:ext>
            </a:extLst>
          </p:cNvPr>
          <p:cNvSpPr txBox="1">
            <a:spLocks/>
          </p:cNvSpPr>
          <p:nvPr/>
        </p:nvSpPr>
        <p:spPr bwMode="gray">
          <a:xfrm>
            <a:off x="1083236" y="1792941"/>
            <a:ext cx="4351025" cy="3908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b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9CF315-CABA-150C-9017-85933D632AF9}"/>
              </a:ext>
            </a:extLst>
          </p:cNvPr>
          <p:cNvSpPr txBox="1"/>
          <p:nvPr/>
        </p:nvSpPr>
        <p:spPr>
          <a:xfrm>
            <a:off x="735106" y="1497106"/>
            <a:ext cx="469915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● Web has highest total activity(~2385) but </a:t>
            </a:r>
            <a:r>
              <a:rPr lang="en-US" dirty="0">
                <a:solidFill>
                  <a:schemeClr val="bg1"/>
                </a:solidFill>
              </a:rPr>
              <a:t>lowest fraud(~152) indicates more users but relatively safer transactions.</a:t>
            </a:r>
          </a:p>
          <a:p>
            <a:r>
              <a:rPr lang="en-US" dirty="0">
                <a:solidFill>
                  <a:schemeClr val="bg1"/>
                </a:solidFill>
              </a:rPr>
              <a:t>● Android shows highest fraud cases (~172) suggest higher fraud risk on Android devices.</a:t>
            </a:r>
          </a:p>
          <a:p>
            <a:r>
              <a:rPr lang="en-US" dirty="0">
                <a:solidFill>
                  <a:schemeClr val="bg1"/>
                </a:solidFill>
              </a:rPr>
              <a:t>●IOS has moderate fraud(~ 165) risk level is between Android &amp; Web.</a:t>
            </a:r>
          </a:p>
          <a:p>
            <a:r>
              <a:rPr lang="en-US" dirty="0">
                <a:solidFill>
                  <a:schemeClr val="bg1"/>
                </a:solidFill>
              </a:rPr>
              <a:t>● Fraud rate comparison(approx.)</a:t>
            </a:r>
          </a:p>
          <a:p>
            <a:r>
              <a:rPr lang="en-US" dirty="0">
                <a:solidFill>
                  <a:schemeClr val="bg1"/>
                </a:solidFill>
              </a:rPr>
              <a:t>Android = 7.5%  (Highest)</a:t>
            </a:r>
          </a:p>
          <a:p>
            <a:r>
              <a:rPr lang="en-US" dirty="0">
                <a:solidFill>
                  <a:schemeClr val="bg1"/>
                </a:solidFill>
              </a:rPr>
              <a:t>IOS = 7.1% </a:t>
            </a:r>
          </a:p>
          <a:p>
            <a:r>
              <a:rPr lang="en-US" dirty="0">
                <a:solidFill>
                  <a:schemeClr val="bg1"/>
                </a:solidFill>
              </a:rPr>
              <a:t>Web = 6.4% (Lowest)</a:t>
            </a:r>
          </a:p>
          <a:p>
            <a:r>
              <a:rPr lang="en-US" dirty="0">
                <a:solidFill>
                  <a:schemeClr val="bg1"/>
                </a:solidFill>
              </a:rPr>
              <a:t>● Fraud distribution is fairly close across devices, but Android slightly leads.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857891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503F2-4F88-7324-5423-94229CFB1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58B4B-98FD-05E0-5D29-DB8551E98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354" y="1228165"/>
            <a:ext cx="4198625" cy="645460"/>
          </a:xfrm>
        </p:spPr>
        <p:txBody>
          <a:bodyPr/>
          <a:lstStyle/>
          <a:p>
            <a: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b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E7103-F0CA-8188-9CD7-68CD7E8FA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id="{FCABF889-A17D-0738-83F2-A8F76569C4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0193379"/>
              </p:ext>
            </p:extLst>
          </p:nvPr>
        </p:nvGraphicFramePr>
        <p:xfrm>
          <a:off x="6686023" y="1447800"/>
          <a:ext cx="5344612" cy="43075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AF7EA556-2FC7-E792-F421-FA4DA659E07C}"/>
              </a:ext>
            </a:extLst>
          </p:cNvPr>
          <p:cNvSpPr txBox="1">
            <a:spLocks/>
          </p:cNvSpPr>
          <p:nvPr/>
        </p:nvSpPr>
        <p:spPr bwMode="gray">
          <a:xfrm>
            <a:off x="1228165" y="1954305"/>
            <a:ext cx="4277813" cy="17632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b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80810BD-7710-1FD4-AC66-6C1B463F1ACF}"/>
              </a:ext>
            </a:extLst>
          </p:cNvPr>
          <p:cNvSpPr txBox="1">
            <a:spLocks/>
          </p:cNvSpPr>
          <p:nvPr/>
        </p:nvSpPr>
        <p:spPr bwMode="gray">
          <a:xfrm>
            <a:off x="1307354" y="986118"/>
            <a:ext cx="4351025" cy="48319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AEA6BBA-28E3-2A90-15F8-C557CB520362}"/>
              </a:ext>
            </a:extLst>
          </p:cNvPr>
          <p:cNvSpPr txBox="1">
            <a:spLocks/>
          </p:cNvSpPr>
          <p:nvPr/>
        </p:nvSpPr>
        <p:spPr bwMode="gray">
          <a:xfrm>
            <a:off x="1307354" y="3428999"/>
            <a:ext cx="4351025" cy="19856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b="1" dirty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●</a:t>
            </a:r>
            <a:r>
              <a:rPr lang="en-IN" sz="18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Withdrawal has the highest total(24.76m)-indicates maximum value movement through withdrawals.</a:t>
            </a:r>
          </a:p>
          <a:p>
            <a:r>
              <a:rPr lang="en-IN"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en-IN" sz="18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Payment is second(~24.11M)</a:t>
            </a:r>
          </a:p>
          <a:p>
            <a:r>
              <a:rPr lang="en-IN" sz="18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Strong contribution ,slightly lower than withdrawals.</a:t>
            </a:r>
          </a:p>
          <a:p>
            <a:r>
              <a:rPr lang="en-IN"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en-IN" sz="18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Transfer has the lowest total (~23.76M) least impact among all transaction types.</a:t>
            </a:r>
          </a:p>
          <a:p>
            <a:r>
              <a:rPr lang="en-IN"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Clear upward trend from Transfer – Payment-Withdrawal  suggest increasing transaction value across type.</a:t>
            </a:r>
          </a:p>
          <a:p>
            <a:r>
              <a:rPr lang="en-IN"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Difference between highest &amp; lowest = 1M Moderate variation, not extremely large gap.</a:t>
            </a:r>
            <a:endParaRPr lang="en-IN" sz="18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b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024195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2C722-A3D7-C35D-4889-B2B92E42B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endParaRPr lang="en-US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AB08A88-E631-45D3-B93B-92C082E1E4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3265269"/>
              </p:ext>
            </p:extLst>
          </p:nvPr>
        </p:nvGraphicFramePr>
        <p:xfrm>
          <a:off x="6191805" y="1441255"/>
          <a:ext cx="5187408" cy="32941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0B7EEAD3-634E-7F4D-4DB3-53F471939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5700" y="3657600"/>
            <a:ext cx="3859213" cy="228600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● Card payments have the highest fraud cases’9135) Most vulnerable transaction method.</a:t>
            </a:r>
          </a:p>
          <a:p>
            <a:r>
              <a:rPr lang="en-US" dirty="0">
                <a:solidFill>
                  <a:schemeClr val="bg1"/>
                </a:solidFill>
              </a:rPr>
              <a:t>● Net banking &amp; UPI show equal fraud cases (120 each).Moderate &amp; similar risk levels.</a:t>
            </a:r>
          </a:p>
          <a:p>
            <a:r>
              <a:rPr lang="en-US" dirty="0">
                <a:solidFill>
                  <a:schemeClr val="bg1"/>
                </a:solidFill>
              </a:rPr>
              <a:t>● Difference is relatively small (only 15 cases) fraud risk is distributed across all methods, not concentrated.</a:t>
            </a:r>
          </a:p>
          <a:p>
            <a:r>
              <a:rPr lang="en-US" dirty="0">
                <a:solidFill>
                  <a:schemeClr val="bg1"/>
                </a:solidFill>
              </a:rPr>
              <a:t>● Card fraud slightly higher (11 to 12% more than others) requires closer monitoring.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A459C4FD-46B1-4B25-0284-A90896FEAE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97728" y="1441255"/>
            <a:ext cx="5181485" cy="3294171"/>
          </a:xfrm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856E1A-4401-88C4-C612-4AD2D7964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31" y="3424237"/>
            <a:ext cx="266737" cy="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53201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F4781-45E8-2E17-4AAB-67E95CCA3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72DE5-30C8-E73F-0C13-98B793D25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693334"/>
            <a:ext cx="3865134" cy="1176616"/>
          </a:xfrm>
        </p:spPr>
        <p:txBody>
          <a:bodyPr/>
          <a:lstStyle/>
          <a:p>
            <a: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F55CFE-FECA-BD38-94F8-1D2596140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3" y="2869950"/>
            <a:ext cx="4105109" cy="28450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●Hyderabad has the highest risk count (1614) indicates maximum fraud concentration in this location.</a:t>
            </a:r>
          </a:p>
          <a:p>
            <a:r>
              <a:rPr lang="en-US" dirty="0">
                <a:solidFill>
                  <a:schemeClr val="bg1"/>
                </a:solidFill>
              </a:rPr>
              <a:t>●Bangalore is second (1518) Moderate risk level , slightly lower than Hyderabad.</a:t>
            </a:r>
          </a:p>
          <a:p>
            <a:r>
              <a:rPr lang="en-US" dirty="0">
                <a:solidFill>
                  <a:schemeClr val="bg1"/>
                </a:solidFill>
              </a:rPr>
              <a:t>●Chennai has the lowest risk. Comparatively safer among the top 3 locations.</a:t>
            </a:r>
          </a:p>
          <a:p>
            <a:r>
              <a:rPr lang="en-US" dirty="0">
                <a:solidFill>
                  <a:schemeClr val="bg1"/>
                </a:solidFill>
              </a:rPr>
              <a:t>● Trend pattern</a:t>
            </a:r>
          </a:p>
          <a:p>
            <a:r>
              <a:rPr lang="en-US" dirty="0">
                <a:solidFill>
                  <a:schemeClr val="bg1"/>
                </a:solidFill>
              </a:rPr>
              <a:t>Decrease from Bangalore- Chennai,  then sharp increases to Hyderabad.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310AD53-11C5-5706-241C-811BA01C04E6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8ED9EFC-CBF3-47F2-9E89-2C7C29C6AA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2442857"/>
              </p:ext>
            </p:extLst>
          </p:nvPr>
        </p:nvGraphicFramePr>
        <p:xfrm>
          <a:off x="6223364" y="1143000"/>
          <a:ext cx="5610048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93847945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7073C-89BD-D78B-4B5E-19445E589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04FFE-BF98-FA15-B45C-88169E7ED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071EDB1-A2AD-4A03-9E20-3561CFB16B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0868408"/>
              </p:ext>
            </p:extLst>
          </p:nvPr>
        </p:nvGraphicFramePr>
        <p:xfrm>
          <a:off x="6627137" y="1276539"/>
          <a:ext cx="4409908" cy="4001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32318505-95F5-F9F4-AFD7-D2BF9E5BB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5700" y="3429000"/>
            <a:ext cx="3859213" cy="16002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●  Fraud cases are a small minority (7%) highlighting  a severe class imbalance that requires specialized detection methods.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150066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31591-2CB4-A77C-304D-4EACF51E9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CA289-48C4-EA38-9345-30E9F6D89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705835"/>
          </a:xfrm>
        </p:spPr>
        <p:txBody>
          <a:bodyPr/>
          <a:lstStyle/>
          <a:p>
            <a: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1547E4-EFC2-9C6E-518C-64C904EBE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3" y="2399169"/>
            <a:ext cx="4105109" cy="36847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● LOW risk category shows unexpected spike in fraud behavior: Fraud (1) in LOW risk is the highest (~5.47) among all categories.</a:t>
            </a:r>
          </a:p>
          <a:p>
            <a:r>
              <a:rPr lang="en-US" dirty="0">
                <a:solidFill>
                  <a:schemeClr val="bg1"/>
                </a:solidFill>
              </a:rPr>
              <a:t>● High risk category is not the highest: </a:t>
            </a:r>
          </a:p>
          <a:p>
            <a:r>
              <a:rPr lang="en-US" dirty="0">
                <a:solidFill>
                  <a:schemeClr val="bg1"/>
                </a:solidFill>
              </a:rPr>
              <a:t>High risk fraud (~4.73) is actually lower than Low , indicating possible misclassification.</a:t>
            </a:r>
          </a:p>
          <a:p>
            <a:r>
              <a:rPr lang="en-US" dirty="0">
                <a:solidFill>
                  <a:schemeClr val="bg1"/>
                </a:solidFill>
              </a:rPr>
              <a:t>● Minimal difference in MEDIUM risk:</a:t>
            </a:r>
          </a:p>
          <a:p>
            <a:r>
              <a:rPr lang="en-US" dirty="0">
                <a:solidFill>
                  <a:schemeClr val="bg1"/>
                </a:solidFill>
              </a:rPr>
              <a:t>Fraud &amp; Non Fraud values (~ 4.90 – 4.95) are very close hard to  differentiate.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9DBC9E9-B6C7-4865-B1BF-342905B681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9748304"/>
              </p:ext>
            </p:extLst>
          </p:nvPr>
        </p:nvGraphicFramePr>
        <p:xfrm>
          <a:off x="6095999" y="1358020"/>
          <a:ext cx="5972269" cy="40650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64142298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DF232-5795-F144-BFC1-3BE1DB2E2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083E9-7A0B-C9A5-29FA-55BF98FD6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1978" y="3074895"/>
            <a:ext cx="10712822" cy="3765176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1.Real-Time Fraud Monitoring: </a:t>
            </a:r>
            <a:r>
              <a:rPr lang="en-US" dirty="0"/>
              <a:t>The system can track transactions instantly and detect fraud as soon as it happens.</a:t>
            </a:r>
          </a:p>
          <a:p>
            <a:r>
              <a:rPr lang="en-US" b="1" dirty="0"/>
              <a:t>2.Machine Learning Prediction Models</a:t>
            </a:r>
            <a:r>
              <a:rPr lang="en-US" dirty="0"/>
              <a:t> – Advanced models can be used to predict fraudulent transactions based on past data.</a:t>
            </a:r>
          </a:p>
          <a:p>
            <a:br>
              <a:rPr lang="en-US" dirty="0"/>
            </a:br>
            <a:r>
              <a:rPr lang="en-US" b="1" dirty="0"/>
              <a:t>3</a:t>
            </a:r>
            <a:r>
              <a:rPr lang="en-US" dirty="0"/>
              <a:t>.</a:t>
            </a:r>
            <a:r>
              <a:rPr lang="en-US" b="1" dirty="0"/>
              <a:t>Dynamic Fraud Risk Scoring</a:t>
            </a:r>
            <a:r>
              <a:rPr lang="en-US" dirty="0"/>
              <a:t> – Each transaction can be given a risk score that changes based on user behavior and transaction details.</a:t>
            </a:r>
          </a:p>
          <a:p>
            <a:br>
              <a:rPr lang="en-US" dirty="0"/>
            </a:br>
            <a:r>
              <a:rPr lang="en-US" b="1" dirty="0"/>
              <a:t>4</a:t>
            </a:r>
            <a:r>
              <a:rPr lang="en-US" dirty="0"/>
              <a:t>.</a:t>
            </a:r>
            <a:r>
              <a:rPr lang="en-US" b="1" dirty="0"/>
              <a:t>Anomaly Detection using AI</a:t>
            </a:r>
            <a:r>
              <a:rPr lang="en-US" dirty="0"/>
              <a:t> – AI can identify unusual transaction patterns that may indicate fraud.</a:t>
            </a:r>
          </a:p>
          <a:p>
            <a:br>
              <a:rPr lang="en-US" dirty="0"/>
            </a:br>
            <a:r>
              <a:rPr lang="en-US" b="1" dirty="0"/>
              <a:t>5</a:t>
            </a:r>
            <a:r>
              <a:rPr lang="en-US" dirty="0"/>
              <a:t>.</a:t>
            </a:r>
            <a:r>
              <a:rPr lang="en-US" b="1" dirty="0"/>
              <a:t>Geo-location Risk Mapping</a:t>
            </a:r>
            <a:r>
              <a:rPr lang="en-US" dirty="0"/>
              <a:t> – Fraud can be analyzed based on location to identify high-risk areas or countries.</a:t>
            </a:r>
          </a:p>
        </p:txBody>
      </p:sp>
    </p:spTree>
    <p:extLst>
      <p:ext uri="{BB962C8B-B14F-4D97-AF65-F5344CB8AC3E}">
        <p14:creationId xmlns:p14="http://schemas.microsoft.com/office/powerpoint/2010/main" val="33547941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FA83D-9BD0-C6FA-CE4C-A504325BE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99429-338B-A212-ADC7-D65E92EAC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1188571"/>
          </a:xfrm>
        </p:spPr>
        <p:txBody>
          <a:bodyPr/>
          <a:lstStyle/>
          <a:p>
            <a:r>
              <a:rPr lang="en-US" dirty="0"/>
              <a:t>Digital Payment Fraud Detection Dashboard transforms transaction data into actionable insights , cut fraud, losses while boosting security &amp; backs a data driven fraud prevention strategy.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3550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881</TotalTime>
  <Words>1145</Words>
  <Application>Microsoft Office PowerPoint</Application>
  <PresentationFormat>Widescreen</PresentationFormat>
  <Paragraphs>141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Century Gothic</vt:lpstr>
      <vt:lpstr>Times New Roman</vt:lpstr>
      <vt:lpstr>Wingdings 3</vt:lpstr>
      <vt:lpstr>Ion Boardroom</vt:lpstr>
      <vt:lpstr>Digital Payment Fraud Detection Dashboard Presented By: Komal Warang  </vt:lpstr>
      <vt:lpstr>Problem Statement/Overview</vt:lpstr>
      <vt:lpstr>Who Will Use This Dashboard?</vt:lpstr>
      <vt:lpstr>                            Data Overview  </vt:lpstr>
      <vt:lpstr>Dashboard Design</vt:lpstr>
      <vt:lpstr>Key Insights</vt:lpstr>
      <vt:lpstr>Key Insights</vt:lpstr>
      <vt:lpstr>Key Insights</vt:lpstr>
      <vt:lpstr>Key Insights </vt:lpstr>
      <vt:lpstr>Key Insights  </vt:lpstr>
      <vt:lpstr>Key Insights</vt:lpstr>
      <vt:lpstr>Key Insights</vt:lpstr>
      <vt:lpstr>Key Insights</vt:lpstr>
      <vt:lpstr>Key Insights</vt:lpstr>
      <vt:lpstr>Future Enhancements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ANIKET GAWDE</dc:creator>
  <cp:lastModifiedBy>ANIKET GAWDE</cp:lastModifiedBy>
  <cp:revision>41</cp:revision>
  <dcterms:created xsi:type="dcterms:W3CDTF">2026-03-03T08:47:16Z</dcterms:created>
  <dcterms:modified xsi:type="dcterms:W3CDTF">2026-03-22T07:56:18Z</dcterms:modified>
</cp:coreProperties>
</file>